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xask pitch" id="{2a4b40e4-0440-1ec1-991b-70e6e929f6d0}">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Solved (%)</c:v>
                </c:pt>
              </c:strCache>
            </c:strRef>
          </c:tx>
          <c:spPr>
            <a:solidFill>
              <a:srgbClr val="9BE15D"/>
            </a:solidFill>
            <a:effectLst/>
          </c:spPr>
          <c:invertIfNegative val="0"/>
          <c:dLbls>
            <c:numFmt formatCode="0&quot;%&quot;" sourceLinked="0"/>
            <c:txPr>
              <a:bodyPr/>
              <a:lstStyle/>
              <a:p>
                <a:pPr>
                  <a:defRPr b="1" i="0" strike="noStrike" sz="1400" u="none">
                    <a:solidFill>
                      <a:srgbClr val="F5F5EE"/>
                    </a:solidFill>
                    <a:latin typeface="+mn-lt"/>
                  </a:defRPr>
                </a:pPr>
              </a:p>
            </c:txPr>
            <c:showLegendKey val="0"/>
            <c:showVal val="1"/>
            <c:showCatName val="0"/>
            <c:showSerName val="0"/>
            <c:showPercent val="0"/>
            <c:showBubbleSize val="0"/>
            <c:showLeaderLines val="0"/>
          </c:dLbls>
          <c:dPt>
            <c:idx val="0"/>
            <c:invertIfNegative val="0"/>
            <c:bubble3D val="0"/>
            <c:spPr>
              <a:solidFill>
                <a:srgbClr val="9BE15D"/>
              </a:solidFill>
              <a:effectLst/>
            </c:spPr>
          </c:dPt>
          <c:dPt>
            <c:idx val="1"/>
            <c:invertIfNegative val="0"/>
            <c:bubble3D val="0"/>
            <c:spPr>
              <a:solidFill>
                <a:srgbClr val="6CB6E8"/>
              </a:solidFill>
              <a:effectLst/>
            </c:spPr>
          </c:dPt>
          <c:dPt>
            <c:idx val="2"/>
            <c:invertIfNegative val="0"/>
            <c:bubble3D val="0"/>
            <c:spPr>
              <a:solidFill>
                <a:srgbClr val="6CB6E8"/>
              </a:solidFill>
              <a:effectLst/>
            </c:spPr>
          </c:dPt>
          <c:dPt>
            <c:idx val="3"/>
            <c:invertIfNegative val="0"/>
            <c:bubble3D val="0"/>
            <c:spPr>
              <a:solidFill>
                <a:srgbClr val="FF5F7E"/>
              </a:solidFill>
              <a:effectLst/>
            </c:spPr>
          </c:dPt>
          <c:cat>
            <c:multiLvlStrRef>
              <c:f>Sheet1!$A$2:$A$5</c:f>
              <c:multiLvlStrCache>
                <c:ptCount val="4"/>
                <c:lvl>
                  <c:pt idx="0">
                    <c:v>lxask</c:v>
                  </c:pt>
                  <c:pt idx="1">
                    <c:v>Untuned, 3 examples</c:v>
                  </c:pt>
                  <c:pt idx="2">
                    <c:v>Untuned, cleaned</c:v>
                  </c:pt>
                  <c:pt idx="3">
                    <c:v>First baseline (my bug)</c:v>
                  </c:pt>
                </c:lvl>
              </c:multiLvlStrCache>
            </c:multiLvlStrRef>
          </c:cat>
          <c:val>
            <c:numRef>
              <c:f>Sheet1!$B$2:$B$5</c:f>
              <c:numCache>
                <c:formatCode>General</c:formatCode>
                <c:ptCount val="4"/>
                <c:pt idx="0">
                  <c:v>62</c:v>
                </c:pt>
                <c:pt idx="1">
                  <c:v>54</c:v>
                </c:pt>
                <c:pt idx="2">
                  <c:v>51</c:v>
                </c:pt>
                <c:pt idx="3">
                  <c:v>31</c:v>
                </c:pt>
              </c:numCache>
            </c:numRef>
          </c:val>
        </c:ser>
        <c:dLbls>
          <c:numFmt formatCode="0&quot;%&quot;" sourceLinked="0"/>
          <c:txPr>
            <a:bodyPr/>
            <a:lstStyle/>
            <a:p>
              <a:pPr>
                <a:defRPr b="1" i="0" strike="noStrike" sz="1400" u="none">
                  <a:solidFill>
                    <a:srgbClr val="F5F5E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F5F5EE"/>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I'm Aaron. This is lxask: you ask for a Linux command in plain English and it gives you a checked command, fully offline. I'm entering Works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Everyone who works in a terminal forgets flags. The usual fixes all cost something. Search needs the internet and the tool's name. A hosted assistant needs an account or key, and sends your terminal context to someone else. Small local models are private, but they invent flags and you can't tell. And none of that works on a locked-down server, a plane or a field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lxask turns a plain-English request into a Linux command. It explains each part, checks every program and flag against the man pages and tldr, and says 'unverified' when it can't confirm something. It keeps restrictions like 'without lsof', asks back when a request is vague, and it never runs anything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the live part; turn Wi-Fi off first, or run inside a container started with --network none --memory 2g. Ask three things: a request with a restriction, a vague one so it asks back, and one where it flags a flag as unverified. If the live demo fails, this recording is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This is the Works Anyway part. About 1.1 gigabytes on disk and 1.3 gigabytes of RAM at peak, CPU only, about two seconds an answer once loaded and about seven the first time. No Ollama, no Docker, no root, no key, no account, and nothing leaves the machine after install. Linux on x86_64 and arm64; I tested arm64 only under emulation.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The request retrieves notes from the man pages and tldr. A 1.5 billion parameter model, Qwen2.5-Coder fine-tuned, drafts the command; a small adapter keeps restrictions like 'without lsof'. A validator checks the program and options against the manual, and the model retries if it objects. Training: tldr-pages, NL2Bash and question-and-answer pairs written by language models with every command validated, then reinforcement learning on about 1,500 tasks run in a sandbox. If asked about the data, say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On the public NL2SH-ALFA benchmark, 300 shell tasks each run in Docker, lxask solves 62 percent. The untuned base model solves 54 percent when given three examples, so the gain is about 8 points, paired test p equals 0.003. On the 237 tasks that don't overlap its training sources it's 61 against 54. My first published baseline said 31 percent; that was my bug, the base model's replies were wrapped in backticks. I found it, re-ran it and corrected the README, docs and model card. GPT-4o's 73 percent is the benchmark authors' figure, not re-run by me. Retrieval and retries made no difference on this set; the gain comes from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It's Linux only and English only, and it misses by a flag or a field number more than a big model would; read the command before you run it. Next: macOS, a doctor command, and packages for Arch, Homebrew and Nix. It's MIT licensed and the model, data and benchmark scripts are public. Scan the QR code, try it, and tell me where it's wrong.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XASK_TITLE">
    <p:bg>
      <p:bgPr>
        <a:solidFill>
          <a:srgbClr val="1E1E1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XASK_CONTENT">
    <p:bg>
      <p:bgPr>
        <a:solidFill>
          <a:srgbClr val="1E1E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xask logo: a smiling terminal window">    </p:cNvPr>
          <p:cNvPicPr>
            <a:picLocks noChangeAspect="1"/>
          </p:cNvPicPr>
          <p:nvPr/>
        </p:nvPicPr>
        <p:blipFill>
          <a:blip r:embed="rId1"/>
          <a:stretch>
            <a:fillRect/>
          </a:stretch>
        </p:blipFill>
        <p:spPr>
          <a:xfrm>
            <a:off x="640080" y="1417320"/>
            <a:ext cx="2286000" cy="2286000"/>
          </a:xfrm>
          <a:prstGeom prst="rect">
            <a:avLst/>
          </a:prstGeom>
        </p:spPr>
      </p:pic>
      <p:sp>
        <p:nvSpPr>
          <p:cNvPr id="3" name="Title"/>
          <p:cNvSpPr txBox="1"/>
          <p:nvPr/>
        </p:nvSpPr>
        <p:spPr>
          <a:xfrm>
            <a:off x="3291840" y="1097280"/>
            <a:ext cx="5394960" cy="1005840"/>
          </a:xfrm>
          <a:prstGeom prst="rect">
            <a:avLst/>
          </a:prstGeom>
          <a:noFill/>
          <a:ln/>
        </p:spPr>
        <p:txBody>
          <a:bodyPr wrap="square" lIns="0" tIns="0" rIns="0" bIns="0" rtlCol="0" anchor="ctr"/>
          <a:lstStyle/>
          <a:p>
            <a:pPr indent="0" marL="0">
              <a:buNone/>
            </a:pPr>
            <a:r>
              <a:rPr lang="en-US" sz="6600" b="1" dirty="0">
                <a:solidFill>
                  <a:schemeClr val="bg1"/>
                </a:solidFill>
              </a:rPr>
              <a:t>lxask</a:t>
            </a:r>
            <a:endParaRPr lang="en-US" sz="6600" dirty="0"/>
          </a:p>
        </p:txBody>
      </p:sp>
      <p:sp>
        <p:nvSpPr>
          <p:cNvPr id="4" name="Tagline"/>
          <p:cNvSpPr txBox="1"/>
          <p:nvPr/>
        </p:nvSpPr>
        <p:spPr>
          <a:xfrm>
            <a:off x="3291840" y="2148840"/>
            <a:ext cx="5394960" cy="457200"/>
          </a:xfrm>
          <a:prstGeom prst="rect">
            <a:avLst/>
          </a:prstGeom>
          <a:noFill/>
          <a:ln/>
        </p:spPr>
        <p:txBody>
          <a:bodyPr wrap="square" lIns="0" tIns="0" rIns="0" bIns="0" rtlCol="0" anchor="ctr"/>
          <a:lstStyle/>
          <a:p>
            <a:pPr indent="0" marL="0">
              <a:buNone/>
            </a:pPr>
            <a:r>
              <a:rPr lang="en-US" sz="2400" dirty="0">
                <a:solidFill>
                  <a:schemeClr val="accent1"/>
                </a:solidFill>
              </a:rPr>
              <a:t>Forgot the command? Just ask. Offline.</a:t>
            </a:r>
            <a:endParaRPr lang="en-US" sz="2400" dirty="0"/>
          </a:p>
        </p:txBody>
      </p:sp>
      <p:sp>
        <p:nvSpPr>
          <p:cNvPr id="5" name="Subtitle"/>
          <p:cNvSpPr txBox="1"/>
          <p:nvPr/>
        </p:nvSpPr>
        <p:spPr>
          <a:xfrm>
            <a:off x="3291840" y="2743200"/>
            <a:ext cx="5120640" cy="822960"/>
          </a:xfrm>
          <a:prstGeom prst="rect">
            <a:avLst/>
          </a:prstGeom>
          <a:noFill/>
          <a:ln/>
        </p:spPr>
        <p:txBody>
          <a:bodyPr wrap="square" lIns="0" tIns="0" rIns="0" bIns="0" rtlCol="0" anchor="t"/>
          <a:lstStyle/>
          <a:p>
            <a:pPr indent="0" marL="0">
              <a:buNone/>
            </a:pPr>
            <a:r>
              <a:rPr lang="en-US" sz="1600" dirty="0">
                <a:solidFill>
                  <a:schemeClr val="bg2"/>
                </a:solidFill>
              </a:rPr>
              <a:t>A 1.5B-parameter model that checks its own answers against the man pages, on your CPU, with no internet.</a:t>
            </a:r>
            <a:endParaRPr lang="en-US" sz="1600" dirty="0"/>
          </a:p>
        </p:txBody>
      </p:sp>
      <p:sp>
        <p:nvSpPr>
          <p:cNvPr id="6" name="Byline"/>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400" dirty="0">
                <a:solidFill>
                  <a:schemeClr val="bg2"/>
                </a:solidFill>
              </a:rPr>
              <a:t>Aaron Thomas  ·  Devin Hacks Kochi  ·  Track 3: Works Anyway</a:t>
            </a:r>
            <a:endParaRPr lang="en-US" sz="1400" dirty="0"/>
          </a:p>
        </p:txBody>
      </p:sp>
      <p:sp>
        <p:nvSpPr>
          <p:cNvPr id="7" name="Repo link"/>
          <p:cNvSpPr txBox="1"/>
          <p:nvPr/>
        </p:nvSpPr>
        <p:spPr>
          <a:xfrm>
            <a:off x="457200" y="4617720"/>
            <a:ext cx="8229600" cy="274320"/>
          </a:xfrm>
          <a:prstGeom prst="rect">
            <a:avLst/>
          </a:prstGeom>
          <a:noFill/>
          <a:ln/>
        </p:spPr>
        <p:txBody>
          <a:bodyPr wrap="square" lIns="0" tIns="0" rIns="0" bIns="0" rtlCol="0" anchor="ctr"/>
          <a:lstStyle/>
          <a:p>
            <a:pPr indent="0" marL="0">
              <a:buNone/>
            </a:pPr>
            <a:r>
              <a:rPr lang="en-US" sz="1400" dirty="0">
                <a:solidFill>
                  <a:schemeClr val="accent1"/>
                </a:solidFill>
              </a:rPr>
              <a:t>github.com/arxhr007/lxask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Looking up a command costs something</a:t>
            </a:r>
            <a:endParaRPr lang="en-US" sz="3600" dirty="0"/>
          </a:p>
        </p:txBody>
      </p:sp>
      <p:sp>
        <p:nvSpPr>
          <p:cNvPr id="3" name="Card 1"/>
          <p:cNvSpPr/>
          <p:nvPr/>
        </p:nvSpPr>
        <p:spPr>
          <a:xfrm>
            <a:off x="457200" y="1234440"/>
            <a:ext cx="8229600" cy="914400"/>
          </a:xfrm>
          <a:prstGeom prst="roundRect">
            <a:avLst>
              <a:gd name="adj" fmla="val 12000"/>
            </a:avLst>
          </a:prstGeom>
          <a:solidFill>
            <a:schemeClr val="tx2"/>
          </a:solidFill>
          <a:ln/>
        </p:spPr>
      </p:sp>
      <p:sp>
        <p:nvSpPr>
          <p:cNvPr id="4" name="Number 1"/>
          <p:cNvSpPr/>
          <p:nvPr/>
        </p:nvSpPr>
        <p:spPr>
          <a:xfrm>
            <a:off x="685800" y="1417320"/>
            <a:ext cx="548640" cy="548640"/>
          </a:xfrm>
          <a:prstGeom prst="ellipse">
            <a:avLst/>
          </a:prstGeom>
          <a:solidFill>
            <a:schemeClr val="accent3"/>
          </a:solidFill>
          <a:ln/>
        </p:spPr>
      </p:sp>
      <p:sp>
        <p:nvSpPr>
          <p:cNvPr id="5" name="Number text 1"/>
          <p:cNvSpPr txBox="1"/>
          <p:nvPr/>
        </p:nvSpPr>
        <p:spPr>
          <a:xfrm>
            <a:off x="685800" y="1417320"/>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6" name="Option 1"/>
          <p:cNvSpPr txBox="1"/>
          <p:nvPr/>
        </p:nvSpPr>
        <p:spPr>
          <a:xfrm>
            <a:off x="1508760" y="1325880"/>
            <a:ext cx="6949440" cy="347472"/>
          </a:xfrm>
          <a:prstGeom prst="rect">
            <a:avLst/>
          </a:prstGeom>
          <a:noFill/>
          <a:ln/>
        </p:spPr>
        <p:txBody>
          <a:bodyPr wrap="square" lIns="0" tIns="0" rIns="0" bIns="0" rtlCol="0" anchor="ctr"/>
          <a:lstStyle/>
          <a:p>
            <a:pPr indent="0" marL="0">
              <a:buNone/>
            </a:pPr>
            <a:r>
              <a:rPr lang="en-US" sz="2000" b="1" dirty="0">
                <a:solidFill>
                  <a:schemeClr val="bg1"/>
                </a:solidFill>
              </a:rPr>
              <a:t>Search or read man pages</a:t>
            </a:r>
            <a:endParaRPr lang="en-US" sz="2000" dirty="0"/>
          </a:p>
        </p:txBody>
      </p:sp>
      <p:sp>
        <p:nvSpPr>
          <p:cNvPr id="7" name="Cost 1"/>
          <p:cNvSpPr txBox="1"/>
          <p:nvPr/>
        </p:nvSpPr>
        <p:spPr>
          <a:xfrm>
            <a:off x="1508760" y="1691640"/>
            <a:ext cx="6949440" cy="365760"/>
          </a:xfrm>
          <a:prstGeom prst="rect">
            <a:avLst/>
          </a:prstGeom>
          <a:noFill/>
          <a:ln/>
        </p:spPr>
        <p:txBody>
          <a:bodyPr wrap="square" lIns="0" tIns="0" rIns="0" bIns="0" rtlCol="0" anchor="t"/>
          <a:lstStyle/>
          <a:p>
            <a:pPr indent="0" marL="0">
              <a:buNone/>
            </a:pPr>
            <a:r>
              <a:rPr lang="en-US" sz="1500" dirty="0">
                <a:solidFill>
                  <a:schemeClr val="bg2"/>
                </a:solidFill>
              </a:rPr>
              <a:t>You need the tool's name already, and often the internet.</a:t>
            </a:r>
            <a:endParaRPr lang="en-US" sz="1500" dirty="0"/>
          </a:p>
        </p:txBody>
      </p:sp>
      <p:sp>
        <p:nvSpPr>
          <p:cNvPr id="8" name="Card 2"/>
          <p:cNvSpPr/>
          <p:nvPr/>
        </p:nvSpPr>
        <p:spPr>
          <a:xfrm>
            <a:off x="457200" y="2313432"/>
            <a:ext cx="8229600" cy="914400"/>
          </a:xfrm>
          <a:prstGeom prst="roundRect">
            <a:avLst>
              <a:gd name="adj" fmla="val 12000"/>
            </a:avLst>
          </a:prstGeom>
          <a:solidFill>
            <a:schemeClr val="tx2"/>
          </a:solidFill>
          <a:ln/>
        </p:spPr>
      </p:sp>
      <p:sp>
        <p:nvSpPr>
          <p:cNvPr id="9" name="Number 2"/>
          <p:cNvSpPr/>
          <p:nvPr/>
        </p:nvSpPr>
        <p:spPr>
          <a:xfrm>
            <a:off x="685800" y="2496312"/>
            <a:ext cx="548640" cy="548640"/>
          </a:xfrm>
          <a:prstGeom prst="ellipse">
            <a:avLst/>
          </a:prstGeom>
          <a:solidFill>
            <a:schemeClr val="accent4"/>
          </a:solidFill>
          <a:ln/>
        </p:spPr>
      </p:sp>
      <p:sp>
        <p:nvSpPr>
          <p:cNvPr id="10" name="Number text 2"/>
          <p:cNvSpPr txBox="1"/>
          <p:nvPr/>
        </p:nvSpPr>
        <p:spPr>
          <a:xfrm>
            <a:off x="685800" y="2496312"/>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1" name="Option 2"/>
          <p:cNvSpPr txBox="1"/>
          <p:nvPr/>
        </p:nvSpPr>
        <p:spPr>
          <a:xfrm>
            <a:off x="1508760" y="2404872"/>
            <a:ext cx="6949440" cy="347472"/>
          </a:xfrm>
          <a:prstGeom prst="rect">
            <a:avLst/>
          </a:prstGeom>
          <a:noFill/>
          <a:ln/>
        </p:spPr>
        <p:txBody>
          <a:bodyPr wrap="square" lIns="0" tIns="0" rIns="0" bIns="0" rtlCol="0" anchor="ctr"/>
          <a:lstStyle/>
          <a:p>
            <a:pPr indent="0" marL="0">
              <a:buNone/>
            </a:pPr>
            <a:r>
              <a:rPr lang="en-US" sz="2000" b="1" dirty="0">
                <a:solidFill>
                  <a:schemeClr val="bg1"/>
                </a:solidFill>
              </a:rPr>
              <a:t>Ask a hosted AI assistant</a:t>
            </a:r>
            <a:endParaRPr lang="en-US" sz="2000" dirty="0"/>
          </a:p>
        </p:txBody>
      </p:sp>
      <p:sp>
        <p:nvSpPr>
          <p:cNvPr id="12" name="Cost 2"/>
          <p:cNvSpPr txBox="1"/>
          <p:nvPr/>
        </p:nvSpPr>
        <p:spPr>
          <a:xfrm>
            <a:off x="1508760" y="2770632"/>
            <a:ext cx="6949440" cy="365760"/>
          </a:xfrm>
          <a:prstGeom prst="rect">
            <a:avLst/>
          </a:prstGeom>
          <a:noFill/>
          <a:ln/>
        </p:spPr>
        <p:txBody>
          <a:bodyPr wrap="square" lIns="0" tIns="0" rIns="0" bIns="0" rtlCol="0" anchor="t"/>
          <a:lstStyle/>
          <a:p>
            <a:pPr indent="0" marL="0">
              <a:buNone/>
            </a:pPr>
            <a:r>
              <a:rPr lang="en-US" sz="1500" dirty="0">
                <a:solidFill>
                  <a:schemeClr val="bg2"/>
                </a:solidFill>
              </a:rPr>
              <a:t>Needs an account or API key, and your terminal context leaves the machine.</a:t>
            </a:r>
            <a:endParaRPr lang="en-US" sz="1500" dirty="0"/>
          </a:p>
        </p:txBody>
      </p:sp>
      <p:sp>
        <p:nvSpPr>
          <p:cNvPr id="13" name="Card 3"/>
          <p:cNvSpPr/>
          <p:nvPr/>
        </p:nvSpPr>
        <p:spPr>
          <a:xfrm>
            <a:off x="457200" y="3392424"/>
            <a:ext cx="8229600" cy="914400"/>
          </a:xfrm>
          <a:prstGeom prst="roundRect">
            <a:avLst>
              <a:gd name="adj" fmla="val 12000"/>
            </a:avLst>
          </a:prstGeom>
          <a:solidFill>
            <a:schemeClr val="tx2"/>
          </a:solidFill>
          <a:ln/>
        </p:spPr>
      </p:sp>
      <p:sp>
        <p:nvSpPr>
          <p:cNvPr id="14" name="Number 3"/>
          <p:cNvSpPr/>
          <p:nvPr/>
        </p:nvSpPr>
        <p:spPr>
          <a:xfrm>
            <a:off x="685800" y="3575304"/>
            <a:ext cx="548640" cy="548640"/>
          </a:xfrm>
          <a:prstGeom prst="ellipse">
            <a:avLst/>
          </a:prstGeom>
          <a:solidFill>
            <a:schemeClr val="accent5"/>
          </a:solidFill>
          <a:ln/>
        </p:spPr>
      </p:sp>
      <p:sp>
        <p:nvSpPr>
          <p:cNvPr id="15" name="Number text 3"/>
          <p:cNvSpPr txBox="1"/>
          <p:nvPr/>
        </p:nvSpPr>
        <p:spPr>
          <a:xfrm>
            <a:off x="685800" y="3575304"/>
            <a:ext cx="548640" cy="54864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6" name="Option 3"/>
          <p:cNvSpPr txBox="1"/>
          <p:nvPr/>
        </p:nvSpPr>
        <p:spPr>
          <a:xfrm>
            <a:off x="1508760" y="3483864"/>
            <a:ext cx="6949440" cy="347472"/>
          </a:xfrm>
          <a:prstGeom prst="rect">
            <a:avLst/>
          </a:prstGeom>
          <a:noFill/>
          <a:ln/>
        </p:spPr>
        <p:txBody>
          <a:bodyPr wrap="square" lIns="0" tIns="0" rIns="0" bIns="0" rtlCol="0" anchor="ctr"/>
          <a:lstStyle/>
          <a:p>
            <a:pPr indent="0" marL="0">
              <a:buNone/>
            </a:pPr>
            <a:r>
              <a:rPr lang="en-US" sz="2000" b="1" dirty="0">
                <a:solidFill>
                  <a:schemeClr val="bg1"/>
                </a:solidFill>
              </a:rPr>
              <a:t>Use a small local model</a:t>
            </a:r>
            <a:endParaRPr lang="en-US" sz="2000" dirty="0"/>
          </a:p>
        </p:txBody>
      </p:sp>
      <p:sp>
        <p:nvSpPr>
          <p:cNvPr id="17" name="Cost 3"/>
          <p:cNvSpPr txBox="1"/>
          <p:nvPr/>
        </p:nvSpPr>
        <p:spPr>
          <a:xfrm>
            <a:off x="1508760" y="3849624"/>
            <a:ext cx="6949440" cy="365760"/>
          </a:xfrm>
          <a:prstGeom prst="rect">
            <a:avLst/>
          </a:prstGeom>
          <a:noFill/>
          <a:ln/>
        </p:spPr>
        <p:txBody>
          <a:bodyPr wrap="square" lIns="0" tIns="0" rIns="0" bIns="0" rtlCol="0" anchor="t"/>
          <a:lstStyle/>
          <a:p>
            <a:pPr indent="0" marL="0">
              <a:buNone/>
            </a:pPr>
            <a:r>
              <a:rPr lang="en-US" sz="1500" dirty="0">
                <a:solidFill>
                  <a:schemeClr val="bg2"/>
                </a:solidFill>
              </a:rPr>
              <a:t>Private, but it invents flags that don't exist and never tells you.</a:t>
            </a:r>
            <a:endParaRPr lang="en-US" sz="1500" dirty="0"/>
          </a:p>
        </p:txBody>
      </p:sp>
      <p:sp>
        <p:nvSpPr>
          <p:cNvPr id="18" name="Takeaway"/>
          <p:cNvSpPr txBox="1"/>
          <p:nvPr/>
        </p:nvSpPr>
        <p:spPr>
          <a:xfrm>
            <a:off x="457200" y="4526280"/>
            <a:ext cx="7680960" cy="320040"/>
          </a:xfrm>
          <a:prstGeom prst="rect">
            <a:avLst/>
          </a:prstGeom>
          <a:noFill/>
          <a:ln/>
        </p:spPr>
        <p:txBody>
          <a:bodyPr wrap="square" lIns="0" tIns="0" rIns="0" bIns="0" rtlCol="0" anchor="ctr"/>
          <a:lstStyle/>
          <a:p>
            <a:pPr indent="0" marL="0">
              <a:buNone/>
            </a:pPr>
            <a:r>
              <a:rPr lang="en-US" sz="1400" i="1" dirty="0">
                <a:solidFill>
                  <a:schemeClr val="accent1"/>
                </a:solidFill>
              </a:rPr>
              <a:t>None of these work on a locked-down server, a plane, or an offline field laptop.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Plain English in, checked command out</a:t>
            </a:r>
            <a:endParaRPr lang="en-US" sz="3600" dirty="0"/>
          </a:p>
        </p:txBody>
      </p:sp>
      <p:sp>
        <p:nvSpPr>
          <p:cNvPr id="3" name="Terminal card"/>
          <p:cNvSpPr/>
          <p:nvPr/>
        </p:nvSpPr>
        <p:spPr>
          <a:xfrm>
            <a:off x="457200" y="1234440"/>
            <a:ext cx="8229600" cy="1325880"/>
          </a:xfrm>
          <a:prstGeom prst="roundRect">
            <a:avLst>
              <a:gd name="adj" fmla="val 8276"/>
            </a:avLst>
          </a:prstGeom>
          <a:solidFill>
            <a:schemeClr val="tx2"/>
          </a:solidFill>
          <a:ln/>
        </p:spPr>
      </p:sp>
      <p:sp>
        <p:nvSpPr>
          <p:cNvPr id="4" name="Terminal text"/>
          <p:cNvSpPr txBox="1"/>
          <p:nvPr/>
        </p:nvSpPr>
        <p:spPr>
          <a:xfrm>
            <a:off x="731520" y="1371600"/>
            <a:ext cx="7680960" cy="1051560"/>
          </a:xfrm>
          <a:prstGeom prst="rect">
            <a:avLst/>
          </a:prstGeom>
          <a:noFill/>
          <a:ln/>
        </p:spPr>
        <p:txBody>
          <a:bodyPr wrap="square" lIns="0" tIns="0" rIns="0" bIns="0" rtlCol="0" anchor="ctr"/>
          <a:lstStyle/>
          <a:p>
            <a:pPr indent="0" marL="0">
              <a:spcAft>
                <a:spcPts val="600"/>
              </a:spcAft>
              <a:buNone/>
            </a:pPr>
            <a:r>
              <a:rPr lang="en-US" sz="1500" dirty="0">
                <a:solidFill>
                  <a:schemeClr val="accent1"/>
                </a:solidFill>
                <a:latin typeface="Courier New" pitchFamily="34" charset="0"/>
                <a:ea typeface="Courier New" pitchFamily="34" charset="-122"/>
                <a:cs typeface="Courier New" pitchFamily="34" charset="-120"/>
              </a:rPr>
              <a:t>$ </a:t>
            </a:r>
            <a:pPr indent="0" marL="0">
              <a:spcAft>
                <a:spcPts val="600"/>
              </a:spcAft>
              <a:buNone/>
            </a:pPr>
            <a:r>
              <a:rPr lang="en-US" sz="1500" dirty="0">
                <a:solidFill>
                  <a:schemeClr val="bg1"/>
                </a:solidFill>
                <a:latin typeface="Courier New" pitchFamily="34" charset="0"/>
                <a:ea typeface="Courier New" pitchFamily="34" charset="-122"/>
                <a:cs typeface="Courier New" pitchFamily="34" charset="-120"/>
              </a:rPr>
              <a:t>lxask "which process uses port 3000, without lsof or netstat"</a:t>
            </a:r>
            <a:endParaRPr lang="en-US" sz="1500" dirty="0"/>
          </a:p>
          <a:p>
            <a:pPr indent="0" marL="0">
              <a:spcAft>
                <a:spcPts val="600"/>
              </a:spcAft>
              <a:buNone/>
            </a:pPr>
            <a:r>
              <a:rPr lang="en-US" sz="1500" dirty="0">
                <a:solidFill>
                  <a:schemeClr val="accent1"/>
                </a:solidFill>
                <a:latin typeface="Courier New" pitchFamily="34" charset="0"/>
                <a:ea typeface="Courier New" pitchFamily="34" charset="-122"/>
                <a:cs typeface="Courier New" pitchFamily="34" charset="-120"/>
              </a:rPr>
              <a:t>$ </a:t>
            </a:r>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ss -ltnp 'sport = :3000'</a:t>
            </a:r>
            <a:endParaRPr lang="en-US" sz="1500" dirty="0"/>
          </a:p>
        </p:txBody>
      </p:sp>
      <p:sp>
        <p:nvSpPr>
          <p:cNvPr id="5" name="Feature card 1"/>
          <p:cNvSpPr/>
          <p:nvPr/>
        </p:nvSpPr>
        <p:spPr>
          <a:xfrm>
            <a:off x="457200" y="2880360"/>
            <a:ext cx="4023360" cy="777240"/>
          </a:xfrm>
          <a:prstGeom prst="roundRect">
            <a:avLst>
              <a:gd name="adj" fmla="val 11765"/>
            </a:avLst>
          </a:prstGeom>
          <a:solidFill>
            <a:schemeClr val="tx2"/>
          </a:solidFill>
          <a:ln/>
        </p:spPr>
      </p:sp>
      <p:sp>
        <p:nvSpPr>
          <p:cNvPr id="6" name="Feature text 1"/>
          <p:cNvSpPr txBox="1"/>
          <p:nvPr/>
        </p:nvSpPr>
        <p:spPr>
          <a:xfrm>
            <a:off x="640080" y="2880360"/>
            <a:ext cx="3657600" cy="777240"/>
          </a:xfrm>
          <a:prstGeom prst="rect">
            <a:avLst/>
          </a:prstGeom>
          <a:noFill/>
          <a:ln/>
        </p:spPr>
        <p:txBody>
          <a:bodyPr wrap="square" lIns="0" tIns="0" rIns="0" bIns="0" rtlCol="0" anchor="ctr"/>
          <a:lstStyle/>
          <a:p>
            <a:pPr indent="0" marL="0">
              <a:buNone/>
            </a:pPr>
            <a:r>
              <a:rPr lang="en-US" sz="1500" b="1" dirty="0">
                <a:solidFill>
                  <a:schemeClr val="accent1"/>
                </a:solidFill>
              </a:rPr>
              <a:t>Explains </a:t>
            </a:r>
            <a:pPr indent="0" marL="0">
              <a:buNone/>
            </a:pPr>
            <a:r>
              <a:rPr lang="en-US" sz="1500" dirty="0">
                <a:solidFill>
                  <a:schemeClr val="bg1"/>
                </a:solidFill>
              </a:rPr>
              <a:t>every part of the command</a:t>
            </a:r>
            <a:endParaRPr lang="en-US" sz="1500" dirty="0"/>
          </a:p>
        </p:txBody>
      </p:sp>
      <p:sp>
        <p:nvSpPr>
          <p:cNvPr id="7" name="Feature card 2"/>
          <p:cNvSpPr/>
          <p:nvPr/>
        </p:nvSpPr>
        <p:spPr>
          <a:xfrm>
            <a:off x="4663440" y="2880360"/>
            <a:ext cx="4023360" cy="777240"/>
          </a:xfrm>
          <a:prstGeom prst="roundRect">
            <a:avLst>
              <a:gd name="adj" fmla="val 11765"/>
            </a:avLst>
          </a:prstGeom>
          <a:solidFill>
            <a:schemeClr val="tx2"/>
          </a:solidFill>
          <a:ln/>
        </p:spPr>
      </p:sp>
      <p:sp>
        <p:nvSpPr>
          <p:cNvPr id="8" name="Feature text 2"/>
          <p:cNvSpPr txBox="1"/>
          <p:nvPr/>
        </p:nvSpPr>
        <p:spPr>
          <a:xfrm>
            <a:off x="4846320" y="2880360"/>
            <a:ext cx="3657600" cy="777240"/>
          </a:xfrm>
          <a:prstGeom prst="rect">
            <a:avLst/>
          </a:prstGeom>
          <a:noFill/>
          <a:ln/>
        </p:spPr>
        <p:txBody>
          <a:bodyPr wrap="square" lIns="0" tIns="0" rIns="0" bIns="0" rtlCol="0" anchor="ctr"/>
          <a:lstStyle/>
          <a:p>
            <a:pPr indent="0" marL="0">
              <a:buNone/>
            </a:pPr>
            <a:r>
              <a:rPr lang="en-US" sz="1500" b="1" dirty="0">
                <a:solidFill>
                  <a:schemeClr val="accent1"/>
                </a:solidFill>
              </a:rPr>
              <a:t>Checks </a:t>
            </a:r>
            <a:pPr indent="0" marL="0">
              <a:buNone/>
            </a:pPr>
            <a:r>
              <a:rPr lang="en-US" sz="1500" dirty="0">
                <a:solidFill>
                  <a:schemeClr val="bg1"/>
                </a:solidFill>
              </a:rPr>
              <a:t>each program and flag against the man pages and tldr</a:t>
            </a:r>
            <a:endParaRPr lang="en-US" sz="1500" dirty="0"/>
          </a:p>
        </p:txBody>
      </p:sp>
      <p:sp>
        <p:nvSpPr>
          <p:cNvPr id="9" name="Feature card 3"/>
          <p:cNvSpPr/>
          <p:nvPr/>
        </p:nvSpPr>
        <p:spPr>
          <a:xfrm>
            <a:off x="457200" y="3794760"/>
            <a:ext cx="4023360" cy="777240"/>
          </a:xfrm>
          <a:prstGeom prst="roundRect">
            <a:avLst>
              <a:gd name="adj" fmla="val 11765"/>
            </a:avLst>
          </a:prstGeom>
          <a:solidFill>
            <a:schemeClr val="tx2"/>
          </a:solidFill>
          <a:ln/>
        </p:spPr>
      </p:sp>
      <p:sp>
        <p:nvSpPr>
          <p:cNvPr id="10" name="Feature text 3"/>
          <p:cNvSpPr txBox="1"/>
          <p:nvPr/>
        </p:nvSpPr>
        <p:spPr>
          <a:xfrm>
            <a:off x="640080" y="3794760"/>
            <a:ext cx="3657600" cy="777240"/>
          </a:xfrm>
          <a:prstGeom prst="rect">
            <a:avLst/>
          </a:prstGeom>
          <a:noFill/>
          <a:ln/>
        </p:spPr>
        <p:txBody>
          <a:bodyPr wrap="square" lIns="0" tIns="0" rIns="0" bIns="0" rtlCol="0" anchor="ctr"/>
          <a:lstStyle/>
          <a:p>
            <a:pPr indent="0" marL="0">
              <a:buNone/>
            </a:pPr>
            <a:r>
              <a:rPr lang="en-US" sz="1500" b="1" dirty="0">
                <a:solidFill>
                  <a:schemeClr val="accent1"/>
                </a:solidFill>
              </a:rPr>
              <a:t>Admits </a:t>
            </a:r>
            <a:pPr indent="0" marL="0">
              <a:buNone/>
            </a:pPr>
            <a:r>
              <a:rPr lang="en-US" sz="1500" dirty="0">
                <a:solidFill>
                  <a:schemeClr val="bg1"/>
                </a:solidFill>
              </a:rPr>
              <a:t>what it can't confirm: "unverified"</a:t>
            </a:r>
            <a:endParaRPr lang="en-US" sz="1500" dirty="0"/>
          </a:p>
        </p:txBody>
      </p:sp>
      <p:sp>
        <p:nvSpPr>
          <p:cNvPr id="11" name="Feature card 4"/>
          <p:cNvSpPr/>
          <p:nvPr/>
        </p:nvSpPr>
        <p:spPr>
          <a:xfrm>
            <a:off x="4663440" y="3794760"/>
            <a:ext cx="4023360" cy="777240"/>
          </a:xfrm>
          <a:prstGeom prst="roundRect">
            <a:avLst>
              <a:gd name="adj" fmla="val 11765"/>
            </a:avLst>
          </a:prstGeom>
          <a:solidFill>
            <a:schemeClr val="tx2"/>
          </a:solidFill>
          <a:ln/>
        </p:spPr>
      </p:sp>
      <p:sp>
        <p:nvSpPr>
          <p:cNvPr id="12" name="Feature text 4"/>
          <p:cNvSpPr txBox="1"/>
          <p:nvPr/>
        </p:nvSpPr>
        <p:spPr>
          <a:xfrm>
            <a:off x="4846320" y="3794760"/>
            <a:ext cx="3657600" cy="777240"/>
          </a:xfrm>
          <a:prstGeom prst="rect">
            <a:avLst/>
          </a:prstGeom>
          <a:noFill/>
          <a:ln/>
        </p:spPr>
        <p:txBody>
          <a:bodyPr wrap="square" lIns="0" tIns="0" rIns="0" bIns="0" rtlCol="0" anchor="ctr"/>
          <a:lstStyle/>
          <a:p>
            <a:pPr indent="0" marL="0">
              <a:buNone/>
            </a:pPr>
            <a:r>
              <a:rPr lang="en-US" sz="1500" b="1" dirty="0">
                <a:solidFill>
                  <a:schemeClr val="accent1"/>
                </a:solidFill>
              </a:rPr>
              <a:t>Never runs </a:t>
            </a:r>
            <a:pPr indent="0" marL="0">
              <a:buNone/>
            </a:pPr>
            <a:r>
              <a:rPr lang="en-US" sz="1500" dirty="0">
                <a:solidFill>
                  <a:schemeClr val="bg1"/>
                </a:solidFill>
              </a:rPr>
              <a:t>anything; you read it first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The demo runs with the constraint on</a:t>
            </a:r>
            <a:endParaRPr lang="en-US" sz="3600" dirty="0"/>
          </a:p>
        </p:txBody>
      </p:sp>
      <p:sp>
        <p:nvSpPr>
          <p:cNvPr id="3" name="Demo checklist"/>
          <p:cNvSpPr txBox="1"/>
          <p:nvPr/>
        </p:nvSpPr>
        <p:spPr>
          <a:xfrm>
            <a:off x="457200" y="1280160"/>
            <a:ext cx="2560320" cy="274320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you will see</a:t>
            </a:r>
            <a:endParaRPr lang="en-US" sz="1500" dirty="0"/>
          </a:p>
          <a:p>
            <a:pPr indent="0" marL="0">
              <a:spcAft>
                <a:spcPts val="400"/>
              </a:spcAft>
              <a:buNone/>
            </a:pPr>
            <a:r>
              <a:rPr lang="en-US" sz="1500" b="1" dirty="0">
                <a:solidFill>
                  <a:schemeClr val="bg1"/>
                </a:solidFill>
              </a:rPr>
              <a:t>A restriction kept:</a:t>
            </a:r>
            <a:endParaRPr lang="en-US" sz="1500" dirty="0"/>
          </a:p>
          <a:p>
            <a:pPr indent="0" marL="0">
              <a:spcAft>
                <a:spcPts val="400"/>
              </a:spcAft>
              <a:buNone/>
            </a:pPr>
            <a:r>
              <a:rPr lang="en-US" sz="1500" dirty="0">
                <a:solidFill>
                  <a:schemeClr val="bg2"/>
                </a:solidFill>
              </a:rPr>
              <a:t>"without lsof"</a:t>
            </a:r>
            <a:endParaRPr lang="en-US" sz="1500" dirty="0"/>
          </a:p>
          <a:p>
            <a:pPr indent="0" marL="0">
              <a:spcAft>
                <a:spcPts val="400"/>
              </a:spcAft>
              <a:buNone/>
            </a:pPr>
            <a:r>
              <a:rPr lang="en-US" sz="1500" b="1" dirty="0">
                <a:solidFill>
                  <a:schemeClr val="bg1"/>
                </a:solidFill>
              </a:rPr>
              <a:t>A vague request:</a:t>
            </a:r>
            <a:endParaRPr lang="en-US" sz="1500" dirty="0"/>
          </a:p>
          <a:p>
            <a:pPr indent="0" marL="0">
              <a:spcAft>
                <a:spcPts val="400"/>
              </a:spcAft>
              <a:buNone/>
            </a:pPr>
            <a:r>
              <a:rPr lang="en-US" sz="1500" dirty="0">
                <a:solidFill>
                  <a:schemeClr val="bg2"/>
                </a:solidFill>
              </a:rPr>
              <a:t>it asks back</a:t>
            </a:r>
            <a:endParaRPr lang="en-US" sz="1500" dirty="0"/>
          </a:p>
          <a:p>
            <a:pPr indent="0" marL="0">
              <a:spcAft>
                <a:spcPts val="400"/>
              </a:spcAft>
              <a:buNone/>
            </a:pPr>
            <a:r>
              <a:rPr lang="en-US" sz="1500" b="1" dirty="0">
                <a:solidFill>
                  <a:schemeClr val="bg1"/>
                </a:solidFill>
              </a:rPr>
              <a:t>A doubtful flag:</a:t>
            </a:r>
            <a:endParaRPr lang="en-US" sz="1500" dirty="0"/>
          </a:p>
          <a:p>
            <a:pPr indent="0" marL="0">
              <a:spcAft>
                <a:spcPts val="400"/>
              </a:spcAft>
              <a:buNone/>
            </a:pPr>
            <a:r>
              <a:rPr lang="en-US" sz="1500" dirty="0">
                <a:solidFill>
                  <a:schemeClr val="bg2"/>
                </a:solidFill>
              </a:rPr>
              <a:t>flagged "unverified"</a:t>
            </a:r>
            <a:endParaRPr lang="en-US" sz="1500" dirty="0"/>
          </a:p>
        </p:txBody>
      </p:sp>
      <p:pic>
        <p:nvPicPr>
          <p:cNvPr id="4" name="Image 0" descr="Recording of lxask answering a request with a restriction, asking back on a vague one, and filling the prompt with Ctrl+G">    </p:cNvPr>
          <p:cNvPicPr>
            <a:picLocks noChangeAspect="1"/>
          </p:cNvPicPr>
          <p:nvPr/>
        </p:nvPicPr>
        <p:blipFill>
          <a:blip r:embed="rId1"/>
          <a:stretch>
            <a:fillRect/>
          </a:stretch>
        </p:blipFill>
        <p:spPr>
          <a:xfrm>
            <a:off x="3200400" y="1280160"/>
            <a:ext cx="5486400" cy="2408389"/>
          </a:xfrm>
          <a:prstGeom prst="rect">
            <a:avLst/>
          </a:prstGeom>
        </p:spPr>
      </p:pic>
      <p:sp>
        <p:nvSpPr>
          <p:cNvPr id="5" name="Constraint chip 1"/>
          <p:cNvSpPr/>
          <p:nvPr/>
        </p:nvSpPr>
        <p:spPr>
          <a:xfrm>
            <a:off x="3200400" y="3931920"/>
            <a:ext cx="1737360" cy="457200"/>
          </a:xfrm>
          <a:prstGeom prst="roundRect">
            <a:avLst>
              <a:gd name="adj" fmla="val 50000"/>
            </a:avLst>
          </a:prstGeom>
          <a:solidFill>
            <a:schemeClr val="tx2"/>
          </a:solidFill>
          <a:ln/>
        </p:spPr>
      </p:sp>
      <p:sp>
        <p:nvSpPr>
          <p:cNvPr id="6" name="Constraint text 1"/>
          <p:cNvSpPr txBox="1"/>
          <p:nvPr/>
        </p:nvSpPr>
        <p:spPr>
          <a:xfrm>
            <a:off x="3200400" y="3931920"/>
            <a:ext cx="1737360" cy="457200"/>
          </a:xfrm>
          <a:prstGeom prst="rect">
            <a:avLst/>
          </a:prstGeom>
          <a:noFill/>
          <a:ln/>
        </p:spPr>
        <p:txBody>
          <a:bodyPr wrap="square" lIns="0" tIns="0" rIns="0" bIns="0" rtlCol="0" anchor="ctr"/>
          <a:lstStyle/>
          <a:p>
            <a:pPr algn="ctr" indent="0" marL="0">
              <a:buNone/>
            </a:pPr>
            <a:r>
              <a:rPr lang="en-US" sz="1400" b="1" dirty="0">
                <a:solidFill>
                  <a:schemeClr val="accent1"/>
                </a:solidFill>
              </a:rPr>
              <a:t>Wi-Fi off</a:t>
            </a:r>
            <a:endParaRPr lang="en-US" sz="1400" dirty="0"/>
          </a:p>
        </p:txBody>
      </p:sp>
      <p:sp>
        <p:nvSpPr>
          <p:cNvPr id="7" name="Constraint chip 2"/>
          <p:cNvSpPr/>
          <p:nvPr/>
        </p:nvSpPr>
        <p:spPr>
          <a:xfrm>
            <a:off x="5074920" y="3931920"/>
            <a:ext cx="1737360" cy="457200"/>
          </a:xfrm>
          <a:prstGeom prst="roundRect">
            <a:avLst>
              <a:gd name="adj" fmla="val 50000"/>
            </a:avLst>
          </a:prstGeom>
          <a:solidFill>
            <a:schemeClr val="tx2"/>
          </a:solidFill>
          <a:ln/>
        </p:spPr>
      </p:sp>
      <p:sp>
        <p:nvSpPr>
          <p:cNvPr id="8" name="Constraint text 2"/>
          <p:cNvSpPr txBox="1"/>
          <p:nvPr/>
        </p:nvSpPr>
        <p:spPr>
          <a:xfrm>
            <a:off x="5074920" y="3931920"/>
            <a:ext cx="1737360" cy="457200"/>
          </a:xfrm>
          <a:prstGeom prst="rect">
            <a:avLst/>
          </a:prstGeom>
          <a:noFill/>
          <a:ln/>
        </p:spPr>
        <p:txBody>
          <a:bodyPr wrap="square" lIns="0" tIns="0" rIns="0" bIns="0" rtlCol="0" anchor="ctr"/>
          <a:lstStyle/>
          <a:p>
            <a:pPr algn="ctr" indent="0" marL="0">
              <a:buNone/>
            </a:pPr>
            <a:r>
              <a:rPr lang="en-US" sz="1400" b="1" dirty="0">
                <a:solidFill>
                  <a:schemeClr val="accent1"/>
                </a:solidFill>
              </a:rPr>
              <a:t>2 GB RAM limit</a:t>
            </a:r>
            <a:endParaRPr lang="en-US" sz="1400" dirty="0"/>
          </a:p>
        </p:txBody>
      </p:sp>
      <p:sp>
        <p:nvSpPr>
          <p:cNvPr id="9" name="Constraint chip 3"/>
          <p:cNvSpPr/>
          <p:nvPr/>
        </p:nvSpPr>
        <p:spPr>
          <a:xfrm>
            <a:off x="6949440" y="3931920"/>
            <a:ext cx="1737360" cy="457200"/>
          </a:xfrm>
          <a:prstGeom prst="roundRect">
            <a:avLst>
              <a:gd name="adj" fmla="val 50000"/>
            </a:avLst>
          </a:prstGeom>
          <a:solidFill>
            <a:schemeClr val="tx2"/>
          </a:solidFill>
          <a:ln/>
        </p:spPr>
      </p:sp>
      <p:sp>
        <p:nvSpPr>
          <p:cNvPr id="10" name="Constraint text 3"/>
          <p:cNvSpPr txBox="1"/>
          <p:nvPr/>
        </p:nvSpPr>
        <p:spPr>
          <a:xfrm>
            <a:off x="6949440" y="3931920"/>
            <a:ext cx="1737360" cy="457200"/>
          </a:xfrm>
          <a:prstGeom prst="rect">
            <a:avLst/>
          </a:prstGeom>
          <a:noFill/>
          <a:ln/>
        </p:spPr>
        <p:txBody>
          <a:bodyPr wrap="square" lIns="0" tIns="0" rIns="0" bIns="0" rtlCol="0" anchor="ctr"/>
          <a:lstStyle/>
          <a:p>
            <a:pPr algn="ctr" indent="0" marL="0">
              <a:buNone/>
            </a:pPr>
            <a:r>
              <a:rPr lang="en-US" sz="1400" b="1" dirty="0">
                <a:solidFill>
                  <a:schemeClr val="accent1"/>
                </a:solidFill>
              </a:rPr>
              <a:t>CPU only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Why it works anyway</a:t>
            </a:r>
            <a:endParaRPr lang="en-US" sz="3600" dirty="0"/>
          </a:p>
        </p:txBody>
      </p:sp>
      <p:sp>
        <p:nvSpPr>
          <p:cNvPr id="3" name="Stat card 1"/>
          <p:cNvSpPr/>
          <p:nvPr/>
        </p:nvSpPr>
        <p:spPr>
          <a:xfrm>
            <a:off x="457200" y="1280160"/>
            <a:ext cx="1920240" cy="1828800"/>
          </a:xfrm>
          <a:prstGeom prst="roundRect">
            <a:avLst>
              <a:gd name="adj" fmla="val 6000"/>
            </a:avLst>
          </a:prstGeom>
          <a:solidFill>
            <a:schemeClr val="tx2"/>
          </a:solidFill>
          <a:ln/>
        </p:spPr>
      </p:sp>
      <p:sp>
        <p:nvSpPr>
          <p:cNvPr id="4" name="Stat value 1"/>
          <p:cNvSpPr txBox="1"/>
          <p:nvPr/>
        </p:nvSpPr>
        <p:spPr>
          <a:xfrm>
            <a:off x="457200" y="1463040"/>
            <a:ext cx="1920240" cy="822960"/>
          </a:xfrm>
          <a:prstGeom prst="rect">
            <a:avLst/>
          </a:prstGeom>
          <a:noFill/>
          <a:ln/>
        </p:spPr>
        <p:txBody>
          <a:bodyPr wrap="square" lIns="0" tIns="0" rIns="0" bIns="0" rtlCol="0" anchor="ctr"/>
          <a:lstStyle/>
          <a:p>
            <a:pPr algn="ctr" indent="0" marL="0">
              <a:buNone/>
            </a:pPr>
            <a:r>
              <a:rPr lang="en-US" sz="4000" b="1" dirty="0">
                <a:solidFill>
                  <a:schemeClr val="accent1"/>
                </a:solidFill>
              </a:rPr>
              <a:t>1.1 GB</a:t>
            </a:r>
            <a:endParaRPr lang="en-US" sz="4000" dirty="0"/>
          </a:p>
        </p:txBody>
      </p:sp>
      <p:sp>
        <p:nvSpPr>
          <p:cNvPr id="5" name="Stat label 1"/>
          <p:cNvSpPr txBox="1"/>
          <p:nvPr/>
        </p:nvSpPr>
        <p:spPr>
          <a:xfrm>
            <a:off x="594360" y="2331720"/>
            <a:ext cx="1645920" cy="640080"/>
          </a:xfrm>
          <a:prstGeom prst="rect">
            <a:avLst/>
          </a:prstGeom>
          <a:noFill/>
          <a:ln/>
        </p:spPr>
        <p:txBody>
          <a:bodyPr wrap="square" lIns="0" tIns="0" rIns="0" bIns="0" rtlCol="0" anchor="t"/>
          <a:lstStyle/>
          <a:p>
            <a:pPr algn="ctr" indent="0" marL="0">
              <a:buNone/>
            </a:pPr>
            <a:r>
              <a:rPr lang="en-US" sz="1400" dirty="0">
                <a:solidFill>
                  <a:schemeClr val="bg2"/>
                </a:solidFill>
              </a:rPr>
              <a:t>on disk</a:t>
            </a:r>
            <a:endParaRPr lang="en-US" sz="1400" dirty="0"/>
          </a:p>
        </p:txBody>
      </p:sp>
      <p:sp>
        <p:nvSpPr>
          <p:cNvPr id="6" name="Stat card 2"/>
          <p:cNvSpPr/>
          <p:nvPr/>
        </p:nvSpPr>
        <p:spPr>
          <a:xfrm>
            <a:off x="2542032" y="1280160"/>
            <a:ext cx="1920240" cy="1828800"/>
          </a:xfrm>
          <a:prstGeom prst="roundRect">
            <a:avLst>
              <a:gd name="adj" fmla="val 6000"/>
            </a:avLst>
          </a:prstGeom>
          <a:solidFill>
            <a:schemeClr val="tx2"/>
          </a:solidFill>
          <a:ln/>
        </p:spPr>
      </p:sp>
      <p:sp>
        <p:nvSpPr>
          <p:cNvPr id="7" name="Stat value 2"/>
          <p:cNvSpPr txBox="1"/>
          <p:nvPr/>
        </p:nvSpPr>
        <p:spPr>
          <a:xfrm>
            <a:off x="2542032" y="1463040"/>
            <a:ext cx="1920240" cy="822960"/>
          </a:xfrm>
          <a:prstGeom prst="rect">
            <a:avLst/>
          </a:prstGeom>
          <a:noFill/>
          <a:ln/>
        </p:spPr>
        <p:txBody>
          <a:bodyPr wrap="square" lIns="0" tIns="0" rIns="0" bIns="0" rtlCol="0" anchor="ctr"/>
          <a:lstStyle/>
          <a:p>
            <a:pPr algn="ctr" indent="0" marL="0">
              <a:buNone/>
            </a:pPr>
            <a:r>
              <a:rPr lang="en-US" sz="4000" b="1" dirty="0">
                <a:solidFill>
                  <a:schemeClr val="accent3"/>
                </a:solidFill>
              </a:rPr>
              <a:t>1.3 GB</a:t>
            </a:r>
            <a:endParaRPr lang="en-US" sz="4000" dirty="0"/>
          </a:p>
        </p:txBody>
      </p:sp>
      <p:sp>
        <p:nvSpPr>
          <p:cNvPr id="8" name="Stat label 2"/>
          <p:cNvSpPr txBox="1"/>
          <p:nvPr/>
        </p:nvSpPr>
        <p:spPr>
          <a:xfrm>
            <a:off x="2679192" y="2331720"/>
            <a:ext cx="1645920" cy="640080"/>
          </a:xfrm>
          <a:prstGeom prst="rect">
            <a:avLst/>
          </a:prstGeom>
          <a:noFill/>
          <a:ln/>
        </p:spPr>
        <p:txBody>
          <a:bodyPr wrap="square" lIns="0" tIns="0" rIns="0" bIns="0" rtlCol="0" anchor="t"/>
          <a:lstStyle/>
          <a:p>
            <a:pPr algn="ctr" indent="0" marL="0">
              <a:buNone/>
            </a:pPr>
            <a:r>
              <a:rPr lang="en-US" sz="1400" dirty="0">
                <a:solidFill>
                  <a:schemeClr val="bg2"/>
                </a:solidFill>
              </a:rPr>
              <a:t>RAM at peak</a:t>
            </a:r>
            <a:endParaRPr lang="en-US" sz="1400" dirty="0"/>
          </a:p>
        </p:txBody>
      </p:sp>
      <p:sp>
        <p:nvSpPr>
          <p:cNvPr id="9" name="Stat card 3"/>
          <p:cNvSpPr/>
          <p:nvPr/>
        </p:nvSpPr>
        <p:spPr>
          <a:xfrm>
            <a:off x="4626864" y="1280160"/>
            <a:ext cx="1920240" cy="1828800"/>
          </a:xfrm>
          <a:prstGeom prst="roundRect">
            <a:avLst>
              <a:gd name="adj" fmla="val 6000"/>
            </a:avLst>
          </a:prstGeom>
          <a:solidFill>
            <a:schemeClr val="tx2"/>
          </a:solidFill>
          <a:ln/>
        </p:spPr>
      </p:sp>
      <p:sp>
        <p:nvSpPr>
          <p:cNvPr id="10" name="Stat value 3"/>
          <p:cNvSpPr txBox="1"/>
          <p:nvPr/>
        </p:nvSpPr>
        <p:spPr>
          <a:xfrm>
            <a:off x="4626864" y="1463040"/>
            <a:ext cx="1920240" cy="822960"/>
          </a:xfrm>
          <a:prstGeom prst="rect">
            <a:avLst/>
          </a:prstGeom>
          <a:noFill/>
          <a:ln/>
        </p:spPr>
        <p:txBody>
          <a:bodyPr wrap="square" lIns="0" tIns="0" rIns="0" bIns="0" rtlCol="0" anchor="ctr"/>
          <a:lstStyle/>
          <a:p>
            <a:pPr algn="ctr" indent="0" marL="0">
              <a:buNone/>
            </a:pPr>
            <a:r>
              <a:rPr lang="en-US" sz="4000" b="1" dirty="0">
                <a:solidFill>
                  <a:schemeClr val="accent5"/>
                </a:solidFill>
              </a:rPr>
              <a:t>~2 s</a:t>
            </a:r>
            <a:endParaRPr lang="en-US" sz="4000" dirty="0"/>
          </a:p>
        </p:txBody>
      </p:sp>
      <p:sp>
        <p:nvSpPr>
          <p:cNvPr id="11" name="Stat label 3"/>
          <p:cNvSpPr txBox="1"/>
          <p:nvPr/>
        </p:nvSpPr>
        <p:spPr>
          <a:xfrm>
            <a:off x="4764024" y="2331720"/>
            <a:ext cx="1645920" cy="640080"/>
          </a:xfrm>
          <a:prstGeom prst="rect">
            <a:avLst/>
          </a:prstGeom>
          <a:noFill/>
          <a:ln/>
        </p:spPr>
        <p:txBody>
          <a:bodyPr wrap="square" lIns="0" tIns="0" rIns="0" bIns="0" rtlCol="0" anchor="t"/>
          <a:lstStyle/>
          <a:p>
            <a:pPr algn="ctr" indent="0" marL="0">
              <a:buNone/>
            </a:pPr>
            <a:r>
              <a:rPr lang="en-US" sz="1400" dirty="0">
                <a:solidFill>
                  <a:schemeClr val="bg2"/>
                </a:solidFill>
              </a:rPr>
              <a:t>per answer once loaded</a:t>
            </a:r>
            <a:endParaRPr lang="en-US" sz="1400" dirty="0"/>
          </a:p>
        </p:txBody>
      </p:sp>
      <p:sp>
        <p:nvSpPr>
          <p:cNvPr id="12" name="Stat card 4"/>
          <p:cNvSpPr/>
          <p:nvPr/>
        </p:nvSpPr>
        <p:spPr>
          <a:xfrm>
            <a:off x="6711696" y="1280160"/>
            <a:ext cx="1920240" cy="1828800"/>
          </a:xfrm>
          <a:prstGeom prst="roundRect">
            <a:avLst>
              <a:gd name="adj" fmla="val 6000"/>
            </a:avLst>
          </a:prstGeom>
          <a:solidFill>
            <a:schemeClr val="tx2"/>
          </a:solidFill>
          <a:ln/>
        </p:spPr>
      </p:sp>
      <p:sp>
        <p:nvSpPr>
          <p:cNvPr id="13" name="Stat value 4"/>
          <p:cNvSpPr txBox="1"/>
          <p:nvPr/>
        </p:nvSpPr>
        <p:spPr>
          <a:xfrm>
            <a:off x="6711696" y="1463040"/>
            <a:ext cx="1920240" cy="822960"/>
          </a:xfrm>
          <a:prstGeom prst="rect">
            <a:avLst/>
          </a:prstGeom>
          <a:noFill/>
          <a:ln/>
        </p:spPr>
        <p:txBody>
          <a:bodyPr wrap="square" lIns="0" tIns="0" rIns="0" bIns="0" rtlCol="0" anchor="ctr"/>
          <a:lstStyle/>
          <a:p>
            <a:pPr algn="ctr" indent="0" marL="0">
              <a:buNone/>
            </a:pPr>
            <a:r>
              <a:rPr lang="en-US" sz="4000" b="1" dirty="0">
                <a:solidFill>
                  <a:schemeClr val="accent4"/>
                </a:solidFill>
              </a:rPr>
              <a:t>0</a:t>
            </a:r>
            <a:endParaRPr lang="en-US" sz="4000" dirty="0"/>
          </a:p>
        </p:txBody>
      </p:sp>
      <p:sp>
        <p:nvSpPr>
          <p:cNvPr id="14" name="Stat label 4"/>
          <p:cNvSpPr txBox="1"/>
          <p:nvPr/>
        </p:nvSpPr>
        <p:spPr>
          <a:xfrm>
            <a:off x="6848856" y="2331720"/>
            <a:ext cx="1645920" cy="640080"/>
          </a:xfrm>
          <a:prstGeom prst="rect">
            <a:avLst/>
          </a:prstGeom>
          <a:noFill/>
          <a:ln/>
        </p:spPr>
        <p:txBody>
          <a:bodyPr wrap="square" lIns="0" tIns="0" rIns="0" bIns="0" rtlCol="0" anchor="t"/>
          <a:lstStyle/>
          <a:p>
            <a:pPr algn="ctr" indent="0" marL="0">
              <a:buNone/>
            </a:pPr>
            <a:r>
              <a:rPr lang="en-US" sz="1400" dirty="0">
                <a:solidFill>
                  <a:schemeClr val="bg2"/>
                </a:solidFill>
              </a:rPr>
              <a:t>accounts or keys needed</a:t>
            </a:r>
            <a:endParaRPr lang="en-US" sz="1400" dirty="0"/>
          </a:p>
        </p:txBody>
      </p:sp>
      <p:sp>
        <p:nvSpPr>
          <p:cNvPr id="15" name="Footprint notes"/>
          <p:cNvSpPr txBox="1"/>
          <p:nvPr/>
        </p:nvSpPr>
        <p:spPr>
          <a:xfrm>
            <a:off x="457200" y="3429000"/>
            <a:ext cx="8229600" cy="914400"/>
          </a:xfrm>
          <a:prstGeom prst="rect">
            <a:avLst/>
          </a:prstGeom>
          <a:noFill/>
          <a:ln/>
        </p:spPr>
        <p:txBody>
          <a:bodyPr wrap="square" lIns="0" tIns="0" rIns="0" bIns="0" rtlCol="0" anchor="t"/>
          <a:lstStyle/>
          <a:p>
            <a:pPr indent="0" marL="0">
              <a:spcAft>
                <a:spcPts val="600"/>
              </a:spcAft>
              <a:buNone/>
            </a:pPr>
            <a:r>
              <a:rPr lang="en-US" sz="1500" b="1" dirty="0">
                <a:solidFill>
                  <a:schemeClr val="bg1"/>
                </a:solidFill>
              </a:rPr>
              <a:t>CPU only, no GPU. </a:t>
            </a:r>
            <a:pPr indent="0" marL="0">
              <a:spcAft>
                <a:spcPts val="600"/>
              </a:spcAft>
              <a:buNone/>
            </a:pPr>
            <a:r>
              <a:rPr lang="en-US" sz="1500" dirty="0">
                <a:solidFill>
                  <a:schemeClr val="bg2"/>
                </a:solidFill>
              </a:rPr>
              <a:t>No Ollama, no Docker, no root, no network after install.</a:t>
            </a:r>
            <a:endParaRPr lang="en-US" sz="1500" dirty="0"/>
          </a:p>
          <a:p>
            <a:pPr indent="0" marL="0">
              <a:spcAft>
                <a:spcPts val="600"/>
              </a:spcAft>
              <a:buNone/>
            </a:pPr>
            <a:r>
              <a:rPr lang="en-US" sz="1500" b="1" dirty="0">
                <a:solidFill>
                  <a:schemeClr val="bg1"/>
                </a:solidFill>
              </a:rPr>
              <a:t>~7 s for the first answer, ~2 s after. </a:t>
            </a:r>
            <a:pPr indent="0" marL="0">
              <a:spcAft>
                <a:spcPts val="600"/>
              </a:spcAft>
              <a:buNone/>
            </a:pPr>
            <a:r>
              <a:rPr lang="en-US" sz="1500" dirty="0">
                <a:solidFill>
                  <a:schemeClr val="bg2"/>
                </a:solidFill>
              </a:rPr>
              <a:t>Linux on x86_64 and arm64 (arm64 tested under emulation).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How it works</a:t>
            </a:r>
            <a:endParaRPr lang="en-US" sz="3600" dirty="0"/>
          </a:p>
        </p:txBody>
      </p:sp>
      <p:sp>
        <p:nvSpPr>
          <p:cNvPr id="3" name="Step 1"/>
          <p:cNvSpPr/>
          <p:nvPr/>
        </p:nvSpPr>
        <p:spPr>
          <a:xfrm>
            <a:off x="457200" y="1280160"/>
            <a:ext cx="1444752" cy="1600200"/>
          </a:xfrm>
          <a:prstGeom prst="roundRect">
            <a:avLst>
              <a:gd name="adj" fmla="val 6329"/>
            </a:avLst>
          </a:prstGeom>
          <a:solidFill>
            <a:schemeClr val="tx2"/>
          </a:solidFill>
          <a:ln/>
        </p:spPr>
      </p:sp>
      <p:sp>
        <p:nvSpPr>
          <p:cNvPr id="4" name="Step dot 1"/>
          <p:cNvSpPr/>
          <p:nvPr/>
        </p:nvSpPr>
        <p:spPr>
          <a:xfrm>
            <a:off x="566928" y="1389888"/>
            <a:ext cx="310896" cy="310896"/>
          </a:xfrm>
          <a:prstGeom prst="ellipse">
            <a:avLst/>
          </a:prstGeom>
          <a:solidFill>
            <a:schemeClr val="accent5"/>
          </a:solidFill>
          <a:ln/>
        </p:spPr>
      </p:sp>
      <p:sp>
        <p:nvSpPr>
          <p:cNvPr id="5" name="Step number 1"/>
          <p:cNvSpPr txBox="1"/>
          <p:nvPr/>
        </p:nvSpPr>
        <p:spPr>
          <a:xfrm>
            <a:off x="566928" y="1389888"/>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Step title 1"/>
          <p:cNvSpPr txBox="1"/>
          <p:nvPr/>
        </p:nvSpPr>
        <p:spPr>
          <a:xfrm>
            <a:off x="548640" y="1755648"/>
            <a:ext cx="1261872" cy="365760"/>
          </a:xfrm>
          <a:prstGeom prst="rect">
            <a:avLst/>
          </a:prstGeom>
          <a:noFill/>
          <a:ln/>
        </p:spPr>
        <p:txBody>
          <a:bodyPr wrap="square" lIns="0" tIns="0" rIns="0" bIns="0" rtlCol="0" anchor="ctr"/>
          <a:lstStyle/>
          <a:p>
            <a:pPr indent="0" marL="0">
              <a:buNone/>
            </a:pPr>
            <a:r>
              <a:rPr lang="en-US" sz="1600" b="1" dirty="0">
                <a:solidFill>
                  <a:schemeClr val="bg1"/>
                </a:solidFill>
              </a:rPr>
              <a:t>Your request</a:t>
            </a:r>
            <a:endParaRPr lang="en-US" sz="1600" dirty="0"/>
          </a:p>
        </p:txBody>
      </p:sp>
      <p:sp>
        <p:nvSpPr>
          <p:cNvPr id="7" name="Step text 1"/>
          <p:cNvSpPr txBox="1"/>
          <p:nvPr/>
        </p:nvSpPr>
        <p:spPr>
          <a:xfrm>
            <a:off x="548640" y="2148840"/>
            <a:ext cx="1261872" cy="640080"/>
          </a:xfrm>
          <a:prstGeom prst="rect">
            <a:avLst/>
          </a:prstGeom>
          <a:noFill/>
          <a:ln/>
        </p:spPr>
        <p:txBody>
          <a:bodyPr wrap="square" lIns="0" tIns="0" rIns="0" bIns="0" rtlCol="0" anchor="t"/>
          <a:lstStyle/>
          <a:p>
            <a:pPr indent="0" marL="0">
              <a:buNone/>
            </a:pPr>
            <a:r>
              <a:rPr lang="en-US" sz="1400" dirty="0">
                <a:solidFill>
                  <a:schemeClr val="bg2"/>
                </a:solidFill>
              </a:rPr>
              <a:t>plain English</a:t>
            </a:r>
            <a:endParaRPr lang="en-US" sz="1400" dirty="0"/>
          </a:p>
        </p:txBody>
      </p:sp>
      <p:sp>
        <p:nvSpPr>
          <p:cNvPr id="8" name="Arrow 1"/>
          <p:cNvSpPr/>
          <p:nvPr/>
        </p:nvSpPr>
        <p:spPr>
          <a:xfrm>
            <a:off x="1929384" y="2075688"/>
            <a:ext cx="201168" cy="0"/>
          </a:xfrm>
          <a:prstGeom prst="line">
            <a:avLst/>
          </a:prstGeom>
          <a:noFill/>
          <a:ln w="25400">
            <a:solidFill>
              <a:schemeClr val="accent1"/>
            </a:solidFill>
            <a:prstDash val="solid"/>
            <a:tailEnd type="triangle"/>
          </a:ln>
        </p:spPr>
      </p:sp>
      <p:sp>
        <p:nvSpPr>
          <p:cNvPr id="9" name="Step 2"/>
          <p:cNvSpPr/>
          <p:nvPr/>
        </p:nvSpPr>
        <p:spPr>
          <a:xfrm>
            <a:off x="2157984" y="1280160"/>
            <a:ext cx="1444752" cy="1600200"/>
          </a:xfrm>
          <a:prstGeom prst="roundRect">
            <a:avLst>
              <a:gd name="adj" fmla="val 6329"/>
            </a:avLst>
          </a:prstGeom>
          <a:solidFill>
            <a:schemeClr val="tx2"/>
          </a:solidFill>
          <a:ln/>
        </p:spPr>
      </p:sp>
      <p:sp>
        <p:nvSpPr>
          <p:cNvPr id="10" name="Step dot 2"/>
          <p:cNvSpPr/>
          <p:nvPr/>
        </p:nvSpPr>
        <p:spPr>
          <a:xfrm>
            <a:off x="2267712" y="1389888"/>
            <a:ext cx="310896" cy="310896"/>
          </a:xfrm>
          <a:prstGeom prst="ellipse">
            <a:avLst/>
          </a:prstGeom>
          <a:solidFill>
            <a:schemeClr val="accent3"/>
          </a:solidFill>
          <a:ln/>
        </p:spPr>
      </p:sp>
      <p:sp>
        <p:nvSpPr>
          <p:cNvPr id="11" name="Step number 2"/>
          <p:cNvSpPr txBox="1"/>
          <p:nvPr/>
        </p:nvSpPr>
        <p:spPr>
          <a:xfrm>
            <a:off x="2267712" y="1389888"/>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Step title 2"/>
          <p:cNvSpPr txBox="1"/>
          <p:nvPr/>
        </p:nvSpPr>
        <p:spPr>
          <a:xfrm>
            <a:off x="2249424" y="1755648"/>
            <a:ext cx="1261872" cy="365760"/>
          </a:xfrm>
          <a:prstGeom prst="rect">
            <a:avLst/>
          </a:prstGeom>
          <a:noFill/>
          <a:ln/>
        </p:spPr>
        <p:txBody>
          <a:bodyPr wrap="square" lIns="0" tIns="0" rIns="0" bIns="0" rtlCol="0" anchor="ctr"/>
          <a:lstStyle/>
          <a:p>
            <a:pPr indent="0" marL="0">
              <a:buNone/>
            </a:pPr>
            <a:r>
              <a:rPr lang="en-US" sz="1600" b="1" dirty="0">
                <a:solidFill>
                  <a:schemeClr val="bg1"/>
                </a:solidFill>
              </a:rPr>
              <a:t>Retrieve</a:t>
            </a:r>
            <a:endParaRPr lang="en-US" sz="1600" dirty="0"/>
          </a:p>
        </p:txBody>
      </p:sp>
      <p:sp>
        <p:nvSpPr>
          <p:cNvPr id="13" name="Step text 2"/>
          <p:cNvSpPr txBox="1"/>
          <p:nvPr/>
        </p:nvSpPr>
        <p:spPr>
          <a:xfrm>
            <a:off x="2249424" y="2148840"/>
            <a:ext cx="1261872" cy="640080"/>
          </a:xfrm>
          <a:prstGeom prst="rect">
            <a:avLst/>
          </a:prstGeom>
          <a:noFill/>
          <a:ln/>
        </p:spPr>
        <p:txBody>
          <a:bodyPr wrap="square" lIns="0" tIns="0" rIns="0" bIns="0" rtlCol="0" anchor="t"/>
          <a:lstStyle/>
          <a:p>
            <a:pPr indent="0" marL="0">
              <a:buNone/>
            </a:pPr>
            <a:r>
              <a:rPr lang="en-US" sz="1400" dirty="0">
                <a:solidFill>
                  <a:schemeClr val="bg2"/>
                </a:solidFill>
              </a:rPr>
              <a:t>man pages and tldr</a:t>
            </a:r>
            <a:endParaRPr lang="en-US" sz="1400" dirty="0"/>
          </a:p>
        </p:txBody>
      </p:sp>
      <p:sp>
        <p:nvSpPr>
          <p:cNvPr id="14" name="Arrow 2"/>
          <p:cNvSpPr/>
          <p:nvPr/>
        </p:nvSpPr>
        <p:spPr>
          <a:xfrm>
            <a:off x="3630168" y="2075688"/>
            <a:ext cx="201168" cy="0"/>
          </a:xfrm>
          <a:prstGeom prst="line">
            <a:avLst/>
          </a:prstGeom>
          <a:noFill/>
          <a:ln w="25400">
            <a:solidFill>
              <a:schemeClr val="accent1"/>
            </a:solidFill>
            <a:prstDash val="solid"/>
            <a:tailEnd type="triangle"/>
          </a:ln>
        </p:spPr>
      </p:sp>
      <p:sp>
        <p:nvSpPr>
          <p:cNvPr id="15" name="Step 3"/>
          <p:cNvSpPr/>
          <p:nvPr/>
        </p:nvSpPr>
        <p:spPr>
          <a:xfrm>
            <a:off x="3858768" y="1280160"/>
            <a:ext cx="1444752" cy="1600200"/>
          </a:xfrm>
          <a:prstGeom prst="roundRect">
            <a:avLst>
              <a:gd name="adj" fmla="val 6329"/>
            </a:avLst>
          </a:prstGeom>
          <a:solidFill>
            <a:schemeClr val="tx2"/>
          </a:solidFill>
          <a:ln/>
        </p:spPr>
      </p:sp>
      <p:sp>
        <p:nvSpPr>
          <p:cNvPr id="16" name="Step dot 3"/>
          <p:cNvSpPr/>
          <p:nvPr/>
        </p:nvSpPr>
        <p:spPr>
          <a:xfrm>
            <a:off x="3968496" y="1389888"/>
            <a:ext cx="310896" cy="310896"/>
          </a:xfrm>
          <a:prstGeom prst="ellipse">
            <a:avLst/>
          </a:prstGeom>
          <a:solidFill>
            <a:schemeClr val="accent1"/>
          </a:solidFill>
          <a:ln/>
        </p:spPr>
      </p:sp>
      <p:sp>
        <p:nvSpPr>
          <p:cNvPr id="17" name="Step number 3"/>
          <p:cNvSpPr txBox="1"/>
          <p:nvPr/>
        </p:nvSpPr>
        <p:spPr>
          <a:xfrm>
            <a:off x="3968496" y="1389888"/>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8" name="Step title 3"/>
          <p:cNvSpPr txBox="1"/>
          <p:nvPr/>
        </p:nvSpPr>
        <p:spPr>
          <a:xfrm>
            <a:off x="3950208" y="1755648"/>
            <a:ext cx="1261872" cy="365760"/>
          </a:xfrm>
          <a:prstGeom prst="rect">
            <a:avLst/>
          </a:prstGeom>
          <a:noFill/>
          <a:ln/>
        </p:spPr>
        <p:txBody>
          <a:bodyPr wrap="square" lIns="0" tIns="0" rIns="0" bIns="0" rtlCol="0" anchor="ctr"/>
          <a:lstStyle/>
          <a:p>
            <a:pPr indent="0" marL="0">
              <a:buNone/>
            </a:pPr>
            <a:r>
              <a:rPr lang="en-US" sz="1600" b="1" dirty="0">
                <a:solidFill>
                  <a:schemeClr val="bg1"/>
                </a:solidFill>
              </a:rPr>
              <a:t>1.5B model</a:t>
            </a:r>
            <a:endParaRPr lang="en-US" sz="1600" dirty="0"/>
          </a:p>
        </p:txBody>
      </p:sp>
      <p:sp>
        <p:nvSpPr>
          <p:cNvPr id="19" name="Step text 3"/>
          <p:cNvSpPr txBox="1"/>
          <p:nvPr/>
        </p:nvSpPr>
        <p:spPr>
          <a:xfrm>
            <a:off x="3950208" y="2148840"/>
            <a:ext cx="1261872" cy="640080"/>
          </a:xfrm>
          <a:prstGeom prst="rect">
            <a:avLst/>
          </a:prstGeom>
          <a:noFill/>
          <a:ln/>
        </p:spPr>
        <p:txBody>
          <a:bodyPr wrap="square" lIns="0" tIns="0" rIns="0" bIns="0" rtlCol="0" anchor="t"/>
          <a:lstStyle/>
          <a:p>
            <a:pPr indent="0" marL="0">
              <a:buNone/>
            </a:pPr>
            <a:r>
              <a:rPr lang="en-US" sz="1400" dirty="0">
                <a:solidFill>
                  <a:schemeClr val="bg2"/>
                </a:solidFill>
              </a:rPr>
              <a:t>Qwen2.5-Coder + restriction adapter</a:t>
            </a:r>
            <a:endParaRPr lang="en-US" sz="1400" dirty="0"/>
          </a:p>
        </p:txBody>
      </p:sp>
      <p:sp>
        <p:nvSpPr>
          <p:cNvPr id="20" name="Arrow 3"/>
          <p:cNvSpPr/>
          <p:nvPr/>
        </p:nvSpPr>
        <p:spPr>
          <a:xfrm>
            <a:off x="5330952" y="2075688"/>
            <a:ext cx="201168" cy="0"/>
          </a:xfrm>
          <a:prstGeom prst="line">
            <a:avLst/>
          </a:prstGeom>
          <a:noFill/>
          <a:ln w="25400">
            <a:solidFill>
              <a:schemeClr val="accent1"/>
            </a:solidFill>
            <a:prstDash val="solid"/>
            <a:tailEnd type="triangle"/>
          </a:ln>
        </p:spPr>
      </p:sp>
      <p:sp>
        <p:nvSpPr>
          <p:cNvPr id="21" name="Step 4"/>
          <p:cNvSpPr/>
          <p:nvPr/>
        </p:nvSpPr>
        <p:spPr>
          <a:xfrm>
            <a:off x="5559552" y="1280160"/>
            <a:ext cx="1444752" cy="1600200"/>
          </a:xfrm>
          <a:prstGeom prst="roundRect">
            <a:avLst>
              <a:gd name="adj" fmla="val 6329"/>
            </a:avLst>
          </a:prstGeom>
          <a:solidFill>
            <a:schemeClr val="tx2"/>
          </a:solidFill>
          <a:ln/>
        </p:spPr>
      </p:sp>
      <p:sp>
        <p:nvSpPr>
          <p:cNvPr id="22" name="Step dot 4"/>
          <p:cNvSpPr/>
          <p:nvPr/>
        </p:nvSpPr>
        <p:spPr>
          <a:xfrm>
            <a:off x="5669280" y="1389888"/>
            <a:ext cx="310896" cy="310896"/>
          </a:xfrm>
          <a:prstGeom prst="ellipse">
            <a:avLst/>
          </a:prstGeom>
          <a:solidFill>
            <a:schemeClr val="accent2"/>
          </a:solidFill>
          <a:ln/>
        </p:spPr>
      </p:sp>
      <p:sp>
        <p:nvSpPr>
          <p:cNvPr id="23" name="Step number 4"/>
          <p:cNvSpPr txBox="1"/>
          <p:nvPr/>
        </p:nvSpPr>
        <p:spPr>
          <a:xfrm>
            <a:off x="5669280" y="1389888"/>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4" name="Step title 4"/>
          <p:cNvSpPr txBox="1"/>
          <p:nvPr/>
        </p:nvSpPr>
        <p:spPr>
          <a:xfrm>
            <a:off x="5650992" y="1755648"/>
            <a:ext cx="1261872" cy="365760"/>
          </a:xfrm>
          <a:prstGeom prst="rect">
            <a:avLst/>
          </a:prstGeom>
          <a:noFill/>
          <a:ln/>
        </p:spPr>
        <p:txBody>
          <a:bodyPr wrap="square" lIns="0" tIns="0" rIns="0" bIns="0" rtlCol="0" anchor="ctr"/>
          <a:lstStyle/>
          <a:p>
            <a:pPr indent="0" marL="0">
              <a:buNone/>
            </a:pPr>
            <a:r>
              <a:rPr lang="en-US" sz="1600" b="1" dirty="0">
                <a:solidFill>
                  <a:schemeClr val="bg1"/>
                </a:solidFill>
              </a:rPr>
              <a:t>Validator</a:t>
            </a:r>
            <a:endParaRPr lang="en-US" sz="1600" dirty="0"/>
          </a:p>
        </p:txBody>
      </p:sp>
      <p:sp>
        <p:nvSpPr>
          <p:cNvPr id="25" name="Step text 4"/>
          <p:cNvSpPr txBox="1"/>
          <p:nvPr/>
        </p:nvSpPr>
        <p:spPr>
          <a:xfrm>
            <a:off x="5650992" y="2148840"/>
            <a:ext cx="1261872" cy="640080"/>
          </a:xfrm>
          <a:prstGeom prst="rect">
            <a:avLst/>
          </a:prstGeom>
          <a:noFill/>
          <a:ln/>
        </p:spPr>
        <p:txBody>
          <a:bodyPr wrap="square" lIns="0" tIns="0" rIns="0" bIns="0" rtlCol="0" anchor="t"/>
          <a:lstStyle/>
          <a:p>
            <a:pPr indent="0" marL="0">
              <a:buNone/>
            </a:pPr>
            <a:r>
              <a:rPr lang="en-US" sz="1400" dirty="0">
                <a:solidFill>
                  <a:schemeClr val="bg2"/>
                </a:solidFill>
              </a:rPr>
              <a:t>checks program and flags</a:t>
            </a:r>
            <a:endParaRPr lang="en-US" sz="1400" dirty="0"/>
          </a:p>
        </p:txBody>
      </p:sp>
      <p:sp>
        <p:nvSpPr>
          <p:cNvPr id="26" name="Arrow 4"/>
          <p:cNvSpPr/>
          <p:nvPr/>
        </p:nvSpPr>
        <p:spPr>
          <a:xfrm>
            <a:off x="7031736" y="2075688"/>
            <a:ext cx="201168" cy="0"/>
          </a:xfrm>
          <a:prstGeom prst="line">
            <a:avLst/>
          </a:prstGeom>
          <a:noFill/>
          <a:ln w="25400">
            <a:solidFill>
              <a:schemeClr val="accent1"/>
            </a:solidFill>
            <a:prstDash val="solid"/>
            <a:tailEnd type="triangle"/>
          </a:ln>
        </p:spPr>
      </p:sp>
      <p:sp>
        <p:nvSpPr>
          <p:cNvPr id="27" name="Step 5"/>
          <p:cNvSpPr/>
          <p:nvPr/>
        </p:nvSpPr>
        <p:spPr>
          <a:xfrm>
            <a:off x="7260336" y="1280160"/>
            <a:ext cx="1444752" cy="1600200"/>
          </a:xfrm>
          <a:prstGeom prst="roundRect">
            <a:avLst>
              <a:gd name="adj" fmla="val 6329"/>
            </a:avLst>
          </a:prstGeom>
          <a:solidFill>
            <a:schemeClr val="tx2"/>
          </a:solidFill>
          <a:ln/>
        </p:spPr>
      </p:sp>
      <p:sp>
        <p:nvSpPr>
          <p:cNvPr id="28" name="Step dot 5"/>
          <p:cNvSpPr/>
          <p:nvPr/>
        </p:nvSpPr>
        <p:spPr>
          <a:xfrm>
            <a:off x="7370064" y="1389888"/>
            <a:ext cx="310896" cy="310896"/>
          </a:xfrm>
          <a:prstGeom prst="ellipse">
            <a:avLst/>
          </a:prstGeom>
          <a:solidFill>
            <a:schemeClr val="accent4"/>
          </a:solidFill>
          <a:ln/>
        </p:spPr>
      </p:sp>
      <p:sp>
        <p:nvSpPr>
          <p:cNvPr id="29" name="Step number 5"/>
          <p:cNvSpPr txBox="1"/>
          <p:nvPr/>
        </p:nvSpPr>
        <p:spPr>
          <a:xfrm>
            <a:off x="7370064" y="1389888"/>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0" name="Step title 5"/>
          <p:cNvSpPr txBox="1"/>
          <p:nvPr/>
        </p:nvSpPr>
        <p:spPr>
          <a:xfrm>
            <a:off x="7351776" y="1755648"/>
            <a:ext cx="1261872" cy="365760"/>
          </a:xfrm>
          <a:prstGeom prst="rect">
            <a:avLst/>
          </a:prstGeom>
          <a:noFill/>
          <a:ln/>
        </p:spPr>
        <p:txBody>
          <a:bodyPr wrap="square" lIns="0" tIns="0" rIns="0" bIns="0" rtlCol="0" anchor="ctr"/>
          <a:lstStyle/>
          <a:p>
            <a:pPr indent="0" marL="0">
              <a:buNone/>
            </a:pPr>
            <a:r>
              <a:rPr lang="en-US" sz="1600" b="1" dirty="0">
                <a:solidFill>
                  <a:schemeClr val="bg1"/>
                </a:solidFill>
              </a:rPr>
              <a:t>Answer</a:t>
            </a:r>
            <a:endParaRPr lang="en-US" sz="1600" dirty="0"/>
          </a:p>
        </p:txBody>
      </p:sp>
      <p:sp>
        <p:nvSpPr>
          <p:cNvPr id="31" name="Step text 5"/>
          <p:cNvSpPr txBox="1"/>
          <p:nvPr/>
        </p:nvSpPr>
        <p:spPr>
          <a:xfrm>
            <a:off x="7351776" y="2148840"/>
            <a:ext cx="1261872" cy="640080"/>
          </a:xfrm>
          <a:prstGeom prst="rect">
            <a:avLst/>
          </a:prstGeom>
          <a:noFill/>
          <a:ln/>
        </p:spPr>
        <p:txBody>
          <a:bodyPr wrap="square" lIns="0" tIns="0" rIns="0" bIns="0" rtlCol="0" anchor="t"/>
          <a:lstStyle/>
          <a:p>
            <a:pPr indent="0" marL="0">
              <a:buNone/>
            </a:pPr>
            <a:r>
              <a:rPr lang="en-US" sz="1400" dirty="0">
                <a:solidFill>
                  <a:schemeClr val="bg2"/>
                </a:solidFill>
              </a:rPr>
              <a:t>explained, "unverified", or asks back</a:t>
            </a:r>
            <a:endParaRPr lang="en-US" sz="1400" dirty="0"/>
          </a:p>
        </p:txBody>
      </p:sp>
      <p:sp>
        <p:nvSpPr>
          <p:cNvPr id="32" name="Retry note"/>
          <p:cNvSpPr txBox="1"/>
          <p:nvPr/>
        </p:nvSpPr>
        <p:spPr>
          <a:xfrm>
            <a:off x="457200" y="3017520"/>
            <a:ext cx="8229600" cy="320040"/>
          </a:xfrm>
          <a:prstGeom prst="rect">
            <a:avLst/>
          </a:prstGeom>
          <a:noFill/>
          <a:ln/>
        </p:spPr>
        <p:txBody>
          <a:bodyPr wrap="square" lIns="0" tIns="0" rIns="0" bIns="0" rtlCol="0" anchor="ctr"/>
          <a:lstStyle/>
          <a:p>
            <a:pPr indent="0" marL="0">
              <a:buNone/>
            </a:pPr>
            <a:r>
              <a:rPr lang="en-US" sz="1400" i="1" dirty="0">
                <a:solidFill>
                  <a:schemeClr val="bg2"/>
                </a:solidFill>
              </a:rPr>
              <a:t>If the validator objects, the model retries before answering.</a:t>
            </a:r>
            <a:endParaRPr lang="en-US" sz="1400" dirty="0"/>
          </a:p>
        </p:txBody>
      </p:sp>
      <p:sp>
        <p:nvSpPr>
          <p:cNvPr id="33" name="Training note"/>
          <p:cNvSpPr txBox="1"/>
          <p:nvPr/>
        </p:nvSpPr>
        <p:spPr>
          <a:xfrm>
            <a:off x="457200" y="3520440"/>
            <a:ext cx="8229600" cy="1005840"/>
          </a:xfrm>
          <a:prstGeom prst="rect">
            <a:avLst/>
          </a:prstGeom>
          <a:noFill/>
          <a:ln/>
        </p:spPr>
        <p:txBody>
          <a:bodyPr wrap="square" lIns="0" tIns="0" rIns="0" bIns="0" rtlCol="0" anchor="t"/>
          <a:lstStyle/>
          <a:p>
            <a:pPr indent="0" marL="0">
              <a:buNone/>
            </a:pPr>
            <a:r>
              <a:rPr lang="en-US" sz="1500" b="1" dirty="0">
                <a:solidFill>
                  <a:schemeClr val="accent1"/>
                </a:solidFill>
              </a:rPr>
              <a:t>Trained on </a:t>
            </a:r>
            <a:pPr indent="0" marL="0">
              <a:buNone/>
            </a:pPr>
            <a:r>
              <a:rPr lang="en-US" sz="1500" dirty="0">
                <a:solidFill>
                  <a:schemeClr val="bg1"/>
                </a:solidFill>
              </a:rPr>
              <a:t>tldr-pages, NL2Bash and question-and-answer pairs written by language models (every command validated), then reinforcement learning on about 1,500 tasks whose commands are run in a sandbox.</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Measured on a public benchmark</a:t>
            </a:r>
            <a:endParaRPr lang="en-US" sz="3600" dirty="0"/>
          </a:p>
        </p:txBody>
      </p:sp>
      <p:sp>
        <p:nvSpPr>
          <p:cNvPr id="3" name="Chart caption"/>
          <p:cNvSpPr txBox="1"/>
          <p:nvPr/>
        </p:nvSpPr>
        <p:spPr>
          <a:xfrm>
            <a:off x="457200" y="1097280"/>
            <a:ext cx="5120640" cy="320040"/>
          </a:xfrm>
          <a:prstGeom prst="rect">
            <a:avLst/>
          </a:prstGeom>
          <a:noFill/>
          <a:ln/>
        </p:spPr>
        <p:txBody>
          <a:bodyPr wrap="square" lIns="0" tIns="0" rIns="0" bIns="0" rtlCol="0" anchor="ctr"/>
          <a:lstStyle/>
          <a:p>
            <a:pPr indent="0" marL="0">
              <a:buNone/>
            </a:pPr>
            <a:r>
              <a:rPr lang="en-US" sz="1400" dirty="0">
                <a:solidFill>
                  <a:schemeClr val="bg2"/>
                </a:solidFill>
              </a:rPr>
              <a:t>NL2SH-ALFA: 300 shell tasks, each answer run in Docker. Share solved:</a:t>
            </a:r>
            <a:endParaRPr lang="en-US" sz="1400" dirty="0"/>
          </a:p>
        </p:txBody>
      </p:sp>
      <p:graphicFrame>
        <p:nvGraphicFramePr>
          <p:cNvPr id="4" name="Chart 0" descr=""/>
          <p:cNvGraphicFramePr/>
          <p:nvPr/>
        </p:nvGraphicFramePr>
        <p:xfrm>
          <a:off x="365760" y="1417320"/>
          <a:ext cx="5303520" cy="2926080"/>
        </p:xfrm>
        <a:graphic xmlns:a="http://schemas.openxmlformats.org/drawingml/2006/main">
          <a:graphicData uri="http://schemas.openxmlformats.org/drawingml/2006/chart">
            <c:chart xmlns:c="http://schemas.openxmlformats.org/drawingml/2006/chart" r:id="rId1"/>
          </a:graphicData>
        </a:graphic>
      </p:graphicFrame>
      <p:sp>
        <p:nvSpPr>
          <p:cNvPr id="5" name="Gain card"/>
          <p:cNvSpPr/>
          <p:nvPr/>
        </p:nvSpPr>
        <p:spPr>
          <a:xfrm>
            <a:off x="5943600" y="1280160"/>
            <a:ext cx="2743200" cy="1600200"/>
          </a:xfrm>
          <a:prstGeom prst="roundRect">
            <a:avLst>
              <a:gd name="adj" fmla="val 6857"/>
            </a:avLst>
          </a:prstGeom>
          <a:solidFill>
            <a:schemeClr val="tx2"/>
          </a:solidFill>
          <a:ln/>
        </p:spPr>
      </p:sp>
      <p:sp>
        <p:nvSpPr>
          <p:cNvPr id="6" name="Gain value"/>
          <p:cNvSpPr txBox="1"/>
          <p:nvPr/>
        </p:nvSpPr>
        <p:spPr>
          <a:xfrm>
            <a:off x="5943600" y="1371600"/>
            <a:ext cx="2743200" cy="777240"/>
          </a:xfrm>
          <a:prstGeom prst="rect">
            <a:avLst/>
          </a:prstGeom>
          <a:noFill/>
          <a:ln/>
        </p:spPr>
        <p:txBody>
          <a:bodyPr wrap="square" lIns="0" tIns="0" rIns="0" bIns="0" rtlCol="0" anchor="ctr"/>
          <a:lstStyle/>
          <a:p>
            <a:pPr algn="ctr" indent="0" marL="0">
              <a:buNone/>
            </a:pPr>
            <a:r>
              <a:rPr lang="en-US" sz="4400" b="1" dirty="0">
                <a:solidFill>
                  <a:schemeClr val="accent1"/>
                </a:solidFill>
              </a:rPr>
              <a:t>+8 pts</a:t>
            </a:r>
            <a:endParaRPr lang="en-US" sz="4400" dirty="0"/>
          </a:p>
        </p:txBody>
      </p:sp>
      <p:sp>
        <p:nvSpPr>
          <p:cNvPr id="7" name="Gain label"/>
          <p:cNvSpPr txBox="1"/>
          <p:nvPr/>
        </p:nvSpPr>
        <p:spPr>
          <a:xfrm>
            <a:off x="6080760" y="2148840"/>
            <a:ext cx="2468880" cy="640080"/>
          </a:xfrm>
          <a:prstGeom prst="rect">
            <a:avLst/>
          </a:prstGeom>
          <a:noFill/>
          <a:ln/>
        </p:spPr>
        <p:txBody>
          <a:bodyPr wrap="square" lIns="0" tIns="0" rIns="0" bIns="0" rtlCol="0" anchor="t"/>
          <a:lstStyle/>
          <a:p>
            <a:pPr algn="ctr" indent="0" marL="0">
              <a:buNone/>
            </a:pPr>
            <a:r>
              <a:rPr lang="en-US" sz="1400" dirty="0">
                <a:solidFill>
                  <a:schemeClr val="bg2"/>
                </a:solidFill>
              </a:rPr>
              <a:t>over a fairly prompted untuned model (paired test, p = 0.003)</a:t>
            </a:r>
            <a:endParaRPr lang="en-US" sz="1400" dirty="0"/>
          </a:p>
        </p:txBody>
      </p:sp>
      <p:sp>
        <p:nvSpPr>
          <p:cNvPr id="8" name="Results notes"/>
          <p:cNvSpPr txBox="1"/>
          <p:nvPr/>
        </p:nvSpPr>
        <p:spPr>
          <a:xfrm>
            <a:off x="5943600" y="3017520"/>
            <a:ext cx="2743200" cy="137160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61% vs 54% </a:t>
            </a:r>
            <a:pPr indent="0" marL="0">
              <a:spcAft>
                <a:spcPts val="600"/>
              </a:spcAft>
              <a:buNone/>
            </a:pPr>
            <a:r>
              <a:rPr lang="en-US" sz="1400" dirty="0">
                <a:solidFill>
                  <a:schemeClr val="bg2"/>
                </a:solidFill>
              </a:rPr>
              <a:t>on the 237 tasks that don't overlap its training sources.</a:t>
            </a:r>
            <a:endParaRPr lang="en-US" sz="1400" dirty="0"/>
          </a:p>
          <a:p>
            <a:pPr indent="0" marL="0">
              <a:spcAft>
                <a:spcPts val="600"/>
              </a:spcAft>
              <a:buNone/>
            </a:pPr>
            <a:r>
              <a:rPr lang="en-US" sz="1400" b="1" dirty="0">
                <a:solidFill>
                  <a:schemeClr val="accent4"/>
                </a:solidFill>
              </a:rPr>
              <a:t>The 31% was my own bug. </a:t>
            </a:r>
            <a:pPr indent="0" marL="0">
              <a:spcAft>
                <a:spcPts val="600"/>
              </a:spcAft>
              <a:buNone/>
            </a:pPr>
            <a:r>
              <a:rPr lang="en-US" sz="1400" dirty="0">
                <a:solidFill>
                  <a:schemeClr val="bg2"/>
                </a:solidFill>
              </a:rPr>
              <a:t>I found it, re-ran, and corrected it publicly.</a:t>
            </a:r>
            <a:endParaRPr lang="en-US" sz="1400" dirty="0"/>
          </a:p>
        </p:txBody>
      </p:sp>
      <p:sp>
        <p:nvSpPr>
          <p:cNvPr id="9" name="Source note"/>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200" dirty="0">
                <a:solidFill>
                  <a:schemeClr val="bg2"/>
                </a:solidFill>
              </a:rPr>
              <a:t>GPT-4o scores 73% per the benchmark's authors; that figure was not re-run here.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Limits, next steps, and an ask</a:t>
            </a:r>
            <a:endParaRPr lang="en-US" sz="3600" dirty="0"/>
          </a:p>
        </p:txBody>
      </p:sp>
      <p:sp>
        <p:nvSpPr>
          <p:cNvPr id="3" name="Honest limits card"/>
          <p:cNvSpPr/>
          <p:nvPr/>
        </p:nvSpPr>
        <p:spPr>
          <a:xfrm>
            <a:off x="457200" y="1280160"/>
            <a:ext cx="2743200" cy="2468880"/>
          </a:xfrm>
          <a:prstGeom prst="roundRect">
            <a:avLst>
              <a:gd name="adj" fmla="val 4444"/>
            </a:avLst>
          </a:prstGeom>
          <a:solidFill>
            <a:schemeClr val="tx2"/>
          </a:solidFill>
          <a:ln/>
        </p:spPr>
      </p:sp>
      <p:sp>
        <p:nvSpPr>
          <p:cNvPr id="4" name="Honest limits heading"/>
          <p:cNvSpPr txBox="1"/>
          <p:nvPr/>
        </p:nvSpPr>
        <p:spPr>
          <a:xfrm>
            <a:off x="640080" y="1371600"/>
            <a:ext cx="2377440" cy="411480"/>
          </a:xfrm>
          <a:prstGeom prst="rect">
            <a:avLst/>
          </a:prstGeom>
          <a:noFill/>
          <a:ln/>
        </p:spPr>
        <p:txBody>
          <a:bodyPr wrap="square" lIns="0" tIns="0" rIns="0" bIns="0" rtlCol="0" anchor="ctr"/>
          <a:lstStyle/>
          <a:p>
            <a:pPr indent="0" marL="0">
              <a:buNone/>
            </a:pPr>
            <a:r>
              <a:rPr lang="en-US" sz="2000" b="1" dirty="0">
                <a:solidFill>
                  <a:schemeClr val="accent4"/>
                </a:solidFill>
              </a:rPr>
              <a:t>Honest limits</a:t>
            </a:r>
            <a:endParaRPr lang="en-US" sz="2000" dirty="0"/>
          </a:p>
        </p:txBody>
      </p:sp>
      <p:sp>
        <p:nvSpPr>
          <p:cNvPr id="5" name="Honest limits list"/>
          <p:cNvSpPr txBox="1"/>
          <p:nvPr/>
        </p:nvSpPr>
        <p:spPr>
          <a:xfrm>
            <a:off x="640080" y="1874520"/>
            <a:ext cx="242316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Linux only, English only</a:t>
            </a:r>
            <a:endParaRPr lang="en-US" sz="1400" dirty="0"/>
          </a:p>
          <a:p>
            <a:pPr marL="342900" indent="-342900">
              <a:spcAft>
                <a:spcPts val="800"/>
              </a:spcAft>
              <a:buSzPct val="100000"/>
              <a:buChar char="•"/>
            </a:pPr>
            <a:r>
              <a:rPr lang="en-US" sz="1400" dirty="0">
                <a:solidFill>
                  <a:schemeClr val="bg1"/>
                </a:solidFill>
              </a:rPr>
              <a:t>Misses by a detail: a flag, a field number</a:t>
            </a:r>
            <a:endParaRPr lang="en-US" sz="1400" dirty="0"/>
          </a:p>
          <a:p>
            <a:pPr marL="342900" indent="-342900">
              <a:spcAft>
                <a:spcPts val="800"/>
              </a:spcAft>
              <a:buSzPct val="100000"/>
              <a:buChar char="•"/>
            </a:pPr>
            <a:r>
              <a:rPr lang="en-US" sz="1400" dirty="0">
                <a:solidFill>
                  <a:schemeClr val="bg1"/>
                </a:solidFill>
              </a:rPr>
              <a:t>Not a replacement for knowing your system</a:t>
            </a:r>
            <a:endParaRPr lang="en-US" sz="1400" dirty="0"/>
          </a:p>
        </p:txBody>
      </p:sp>
      <p:sp>
        <p:nvSpPr>
          <p:cNvPr id="6" name="Next card"/>
          <p:cNvSpPr/>
          <p:nvPr/>
        </p:nvSpPr>
        <p:spPr>
          <a:xfrm>
            <a:off x="3383280" y="1280160"/>
            <a:ext cx="2743200" cy="2468880"/>
          </a:xfrm>
          <a:prstGeom prst="roundRect">
            <a:avLst>
              <a:gd name="adj" fmla="val 4444"/>
            </a:avLst>
          </a:prstGeom>
          <a:solidFill>
            <a:schemeClr val="tx2"/>
          </a:solidFill>
          <a:ln/>
        </p:spPr>
      </p:sp>
      <p:sp>
        <p:nvSpPr>
          <p:cNvPr id="7" name="Next heading"/>
          <p:cNvSpPr txBox="1"/>
          <p:nvPr/>
        </p:nvSpPr>
        <p:spPr>
          <a:xfrm>
            <a:off x="3566160" y="1371600"/>
            <a:ext cx="2377440" cy="411480"/>
          </a:xfrm>
          <a:prstGeom prst="rect">
            <a:avLst/>
          </a:prstGeom>
          <a:noFill/>
          <a:ln/>
        </p:spPr>
        <p:txBody>
          <a:bodyPr wrap="square" lIns="0" tIns="0" rIns="0" bIns="0" rtlCol="0" anchor="ctr"/>
          <a:lstStyle/>
          <a:p>
            <a:pPr indent="0" marL="0">
              <a:buNone/>
            </a:pPr>
            <a:r>
              <a:rPr lang="en-US" sz="2000" b="1" dirty="0">
                <a:solidFill>
                  <a:schemeClr val="accent3"/>
                </a:solidFill>
              </a:rPr>
              <a:t>Next</a:t>
            </a:r>
            <a:endParaRPr lang="en-US" sz="2000" dirty="0"/>
          </a:p>
        </p:txBody>
      </p:sp>
      <p:sp>
        <p:nvSpPr>
          <p:cNvPr id="8" name="Next list"/>
          <p:cNvSpPr txBox="1"/>
          <p:nvPr/>
        </p:nvSpPr>
        <p:spPr>
          <a:xfrm>
            <a:off x="3566160" y="1874520"/>
            <a:ext cx="242316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macOS support</a:t>
            </a:r>
            <a:endParaRPr lang="en-US" sz="1400" dirty="0"/>
          </a:p>
          <a:p>
            <a:pPr marL="342900" indent="-342900">
              <a:spcAft>
                <a:spcPts val="800"/>
              </a:spcAft>
              <a:buSzPct val="100000"/>
              <a:buChar char="•"/>
            </a:pPr>
            <a:r>
              <a:rPr lang="en-US" sz="1400" dirty="0">
                <a:solidFill>
                  <a:schemeClr val="bg1"/>
                </a:solidFill>
              </a:rPr>
              <a:t>A self-check command, lxask doctor</a:t>
            </a:r>
            <a:endParaRPr lang="en-US" sz="1400" dirty="0"/>
          </a:p>
          <a:p>
            <a:pPr marL="342900" indent="-342900">
              <a:spcAft>
                <a:spcPts val="800"/>
              </a:spcAft>
              <a:buSzPct val="100000"/>
              <a:buChar char="•"/>
            </a:pPr>
            <a:r>
              <a:rPr lang="en-US" sz="1400" dirty="0">
                <a:solidFill>
                  <a:schemeClr val="bg1"/>
                </a:solidFill>
              </a:rPr>
              <a:t>Packages for Arch, Homebrew, Nix</a:t>
            </a:r>
            <a:endParaRPr lang="en-US" sz="1400" dirty="0"/>
          </a:p>
        </p:txBody>
      </p:sp>
      <p:pic>
        <p:nvPicPr>
          <p:cNvPr id="9" name="Image 0" descr="QR code linking to github.com/arxhr007/lxask">    </p:cNvPr>
          <p:cNvPicPr>
            <a:picLocks noChangeAspect="1"/>
          </p:cNvPicPr>
          <p:nvPr/>
        </p:nvPicPr>
        <p:blipFill>
          <a:blip r:embed="rId1"/>
          <a:stretch>
            <a:fillRect/>
          </a:stretch>
        </p:blipFill>
        <p:spPr>
          <a:xfrm>
            <a:off x="6400800" y="1280160"/>
            <a:ext cx="2011680" cy="2011680"/>
          </a:xfrm>
          <a:prstGeom prst="rect">
            <a:avLst/>
          </a:prstGeom>
        </p:spPr>
      </p:pic>
      <p:sp>
        <p:nvSpPr>
          <p:cNvPr id="10" name="Ask"/>
          <p:cNvSpPr txBox="1"/>
          <p:nvPr/>
        </p:nvSpPr>
        <p:spPr>
          <a:xfrm>
            <a:off x="6309360" y="3383280"/>
            <a:ext cx="2377440" cy="594360"/>
          </a:xfrm>
          <a:prstGeom prst="rect">
            <a:avLst/>
          </a:prstGeom>
          <a:noFill/>
          <a:ln/>
        </p:spPr>
        <p:txBody>
          <a:bodyPr wrap="square" lIns="0" tIns="0" rIns="0" bIns="0" rtlCol="0" anchor="t"/>
          <a:lstStyle/>
          <a:p>
            <a:pPr algn="ctr" indent="0" marL="0">
              <a:buNone/>
            </a:pPr>
            <a:r>
              <a:rPr lang="en-US" sz="1600" b="1" dirty="0">
                <a:solidFill>
                  <a:schemeClr val="accent1"/>
                </a:solidFill>
              </a:rPr>
              <a:t>Try it, and tell me where it's wrong</a:t>
            </a:r>
            <a:endParaRPr lang="en-US" sz="1600" dirty="0"/>
          </a:p>
        </p:txBody>
      </p:sp>
      <p:sp>
        <p:nvSpPr>
          <p:cNvPr id="11" name="Links"/>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400" dirty="0">
                <a:solidFill>
                  <a:schemeClr val="bg2"/>
                </a:solidFill>
              </a:rPr>
              <a:t>MIT licence  ·  github.com/arxhr007/lxask  ·  huggingface.co/aaronthomas123/lxask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CCC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lxask terminal">
  <a:themeElements>
    <a:clrScheme name="lxask terminal">
      <a:dk1>
        <a:srgbClr val="1E1E1C"/>
      </a:dk1>
      <a:lt1>
        <a:srgbClr val="F5F5EE"/>
      </a:lt1>
      <a:dk2>
        <a:srgbClr val="2B2C30"/>
      </a:dk2>
      <a:lt2>
        <a:srgbClr val="C9CCC2"/>
      </a:lt2>
      <a:accent1>
        <a:srgbClr val="9BE15D"/>
      </a:accent1>
      <a:accent2>
        <a:srgbClr val="2FBF71"/>
      </a:accent2>
      <a:accent3>
        <a:srgbClr val="FFD166"/>
      </a:accent3>
      <a:accent4>
        <a:srgbClr val="FF5F7E"/>
      </a:accent4>
      <a:accent5>
        <a:srgbClr val="6CB6E8"/>
      </a:accent5>
      <a:accent6>
        <a:srgbClr val="B8F25A"/>
      </a:accent6>
      <a:hlink>
        <a:srgbClr val="9BE15D"/>
      </a:hlink>
      <a:folHlink>
        <a:srgbClr val="C9CCC2"/>
      </a:folHlink>
    </a:clrScheme>
    <a:fontScheme name="lxask termi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lxask: forgot the command? Just ask. Offline.</dc:title>
  <dc:subject>Devin Hacks Kochi, track 3: Works Anyway</dc:subject>
  <dc:creator>Aaron Thomas</dc:creator>
  <cp:lastModifiedBy>Aaron Thomas</cp:lastModifiedBy>
  <cp:revision>1</cp:revision>
  <dcterms:created xsi:type="dcterms:W3CDTF">2026-10-24T18:49:23Z</dcterms:created>
  <dcterms:modified xsi:type="dcterms:W3CDTF">2026-10-24T18:49:23Z</dcterms:modified>
</cp:coreProperties>
</file>